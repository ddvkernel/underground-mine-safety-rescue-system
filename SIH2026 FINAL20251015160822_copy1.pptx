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92D010-D990-4EAB-87C2-BE46E3483819}" v="1" dt="2026-09-29T04:41:32.95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37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luka Srikaran" userId="4a54afbf8d29609b" providerId="LiveId" clId="{14D037A7-1B91-4EA2-8581-06F8CAD1A1A6}"/>
    <pc:docChg chg="undo custSel modSld">
      <pc:chgData name="Muluka Srikaran" userId="4a54afbf8d29609b" providerId="LiveId" clId="{14D037A7-1B91-4EA2-8581-06F8CAD1A1A6}" dt="2026-09-29T04:43:28.230" v="116" actId="14100"/>
      <pc:docMkLst>
        <pc:docMk/>
      </pc:docMkLst>
      <pc:sldChg chg="addSp delSp modSp mod">
        <pc:chgData name="Muluka Srikaran" userId="4a54afbf8d29609b" providerId="LiveId" clId="{14D037A7-1B91-4EA2-8581-06F8CAD1A1A6}" dt="2026-09-29T04:41:25.997" v="94" actId="1076"/>
        <pc:sldMkLst>
          <pc:docMk/>
          <pc:sldMk cId="0" sldId="256"/>
        </pc:sldMkLst>
        <pc:spChg chg="mod">
          <ac:chgData name="Muluka Srikaran" userId="4a54afbf8d29609b" providerId="LiveId" clId="{14D037A7-1B91-4EA2-8581-06F8CAD1A1A6}" dt="2026-09-29T04:33:46.373" v="89" actId="20577"/>
          <ac:spMkLst>
            <pc:docMk/>
            <pc:sldMk cId="0" sldId="256"/>
            <ac:spMk id="3" creationId="{00000000-0000-0000-0000-000000000000}"/>
          </ac:spMkLst>
        </pc:spChg>
        <pc:picChg chg="add del">
          <ac:chgData name="Muluka Srikaran" userId="4a54afbf8d29609b" providerId="LiveId" clId="{14D037A7-1B91-4EA2-8581-06F8CAD1A1A6}" dt="2026-09-29T04:41:22.604" v="93" actId="478"/>
          <ac:picMkLst>
            <pc:docMk/>
            <pc:sldMk cId="0" sldId="256"/>
            <ac:picMk id="5" creationId="{00000000-0000-0000-0000-000000000000}"/>
          </ac:picMkLst>
        </pc:picChg>
        <pc:picChg chg="add mod">
          <ac:chgData name="Muluka Srikaran" userId="4a54afbf8d29609b" providerId="LiveId" clId="{14D037A7-1B91-4EA2-8581-06F8CAD1A1A6}" dt="2026-09-29T04:41:25.997" v="94" actId="1076"/>
          <ac:picMkLst>
            <pc:docMk/>
            <pc:sldMk cId="0" sldId="256"/>
            <ac:picMk id="8" creationId="{D3F36BF8-5951-5283-362D-7C3CAF6FDF70}"/>
          </ac:picMkLst>
        </pc:picChg>
      </pc:sldChg>
      <pc:sldChg chg="addSp delSp modSp mod">
        <pc:chgData name="Muluka Srikaran" userId="4a54afbf8d29609b" providerId="LiveId" clId="{14D037A7-1B91-4EA2-8581-06F8CAD1A1A6}" dt="2026-09-29T04:42:13.666" v="102" actId="1076"/>
        <pc:sldMkLst>
          <pc:docMk/>
          <pc:sldMk cId="0" sldId="257"/>
        </pc:sldMkLst>
        <pc:spChg chg="mod">
          <ac:chgData name="Muluka Srikaran" userId="4a54afbf8d29609b" providerId="LiveId" clId="{14D037A7-1B91-4EA2-8581-06F8CAD1A1A6}" dt="2026-09-28T19:38:03.681" v="26" actId="20577"/>
          <ac:spMkLst>
            <pc:docMk/>
            <pc:sldMk cId="0" sldId="257"/>
            <ac:spMk id="3" creationId="{00000000-0000-0000-0000-000000000000}"/>
          </ac:spMkLst>
        </pc:spChg>
        <pc:spChg chg="add del mod">
          <ac:chgData name="Muluka Srikaran" userId="4a54afbf8d29609b" providerId="LiveId" clId="{14D037A7-1B91-4EA2-8581-06F8CAD1A1A6}" dt="2026-09-29T04:41:43.850" v="99"/>
          <ac:spMkLst>
            <pc:docMk/>
            <pc:sldMk cId="0" sldId="257"/>
            <ac:spMk id="4" creationId="{EB61C2BA-BE59-441F-C96B-D5BA5EBC7766}"/>
          </ac:spMkLst>
        </pc:spChg>
        <pc:spChg chg="mod">
          <ac:chgData name="Muluka Srikaran" userId="4a54afbf8d29609b" providerId="LiveId" clId="{14D037A7-1B91-4EA2-8581-06F8CAD1A1A6}" dt="2026-09-28T19:41:41.202" v="79" actId="255"/>
          <ac:spMkLst>
            <pc:docMk/>
            <pc:sldMk cId="0" sldId="257"/>
            <ac:spMk id="13" creationId="{00000000-0000-0000-0000-000000000000}"/>
          </ac:spMkLst>
        </pc:spChg>
        <pc:picChg chg="add mod">
          <ac:chgData name="Muluka Srikaran" userId="4a54afbf8d29609b" providerId="LiveId" clId="{14D037A7-1B91-4EA2-8581-06F8CAD1A1A6}" dt="2026-09-29T04:42:13.666" v="102" actId="1076"/>
          <ac:picMkLst>
            <pc:docMk/>
            <pc:sldMk cId="0" sldId="257"/>
            <ac:picMk id="7" creationId="{38C64918-CB57-6028-4102-9855957A22B9}"/>
          </ac:picMkLst>
        </pc:picChg>
      </pc:sldChg>
      <pc:sldChg chg="addSp delSp modSp mod">
        <pc:chgData name="Muluka Srikaran" userId="4a54afbf8d29609b" providerId="LiveId" clId="{14D037A7-1B91-4EA2-8581-06F8CAD1A1A6}" dt="2026-09-29T04:42:29.502" v="105" actId="14100"/>
        <pc:sldMkLst>
          <pc:docMk/>
          <pc:sldMk cId="0" sldId="258"/>
        </pc:sldMkLst>
        <pc:picChg chg="add mod modCrop">
          <ac:chgData name="Muluka Srikaran" userId="4a54afbf8d29609b" providerId="LiveId" clId="{14D037A7-1B91-4EA2-8581-06F8CAD1A1A6}" dt="2026-09-28T19:49:11.038" v="87" actId="732"/>
          <ac:picMkLst>
            <pc:docMk/>
            <pc:sldMk cId="0" sldId="258"/>
            <ac:picMk id="11" creationId="{4250B270-7067-0265-F68E-DFE12D42A1B9}"/>
          </ac:picMkLst>
        </pc:picChg>
        <pc:picChg chg="add mod">
          <ac:chgData name="Muluka Srikaran" userId="4a54afbf8d29609b" providerId="LiveId" clId="{14D037A7-1B91-4EA2-8581-06F8CAD1A1A6}" dt="2026-09-29T04:42:29.502" v="105" actId="14100"/>
          <ac:picMkLst>
            <pc:docMk/>
            <pc:sldMk cId="0" sldId="258"/>
            <ac:picMk id="40" creationId="{6CB643B0-B614-C6FE-5469-9D66D2D0C402}"/>
          </ac:picMkLst>
        </pc:picChg>
        <pc:picChg chg="del">
          <ac:chgData name="Muluka Srikaran" userId="4a54afbf8d29609b" providerId="LiveId" clId="{14D037A7-1B91-4EA2-8581-06F8CAD1A1A6}" dt="2026-09-28T19:48:18.674" v="80" actId="478"/>
          <ac:picMkLst>
            <pc:docMk/>
            <pc:sldMk cId="0" sldId="258"/>
            <ac:picMk id="57" creationId="{0A9D3571-9850-E41C-8FF7-F75726CAA8A8}"/>
          </ac:picMkLst>
        </pc:picChg>
      </pc:sldChg>
      <pc:sldChg chg="addSp modSp mod">
        <pc:chgData name="Muluka Srikaran" userId="4a54afbf8d29609b" providerId="LiveId" clId="{14D037A7-1B91-4EA2-8581-06F8CAD1A1A6}" dt="2026-09-29T04:42:54.074" v="110" actId="14100"/>
        <pc:sldMkLst>
          <pc:docMk/>
          <pc:sldMk cId="0" sldId="259"/>
        </pc:sldMkLst>
        <pc:picChg chg="add mod">
          <ac:chgData name="Muluka Srikaran" userId="4a54afbf8d29609b" providerId="LiveId" clId="{14D037A7-1B91-4EA2-8581-06F8CAD1A1A6}" dt="2026-09-29T04:42:54.074" v="110" actId="14100"/>
          <ac:picMkLst>
            <pc:docMk/>
            <pc:sldMk cId="0" sldId="259"/>
            <ac:picMk id="10" creationId="{5B214BC9-CDE2-CB97-C932-C3AFE515F8BA}"/>
          </ac:picMkLst>
        </pc:picChg>
      </pc:sldChg>
      <pc:sldChg chg="addSp modSp mod">
        <pc:chgData name="Muluka Srikaran" userId="4a54afbf8d29609b" providerId="LiveId" clId="{14D037A7-1B91-4EA2-8581-06F8CAD1A1A6}" dt="2026-09-29T04:43:10.482" v="112" actId="1076"/>
        <pc:sldMkLst>
          <pc:docMk/>
          <pc:sldMk cId="0" sldId="260"/>
        </pc:sldMkLst>
        <pc:picChg chg="add mod">
          <ac:chgData name="Muluka Srikaran" userId="4a54afbf8d29609b" providerId="LiveId" clId="{14D037A7-1B91-4EA2-8581-06F8CAD1A1A6}" dt="2026-09-29T04:43:10.482" v="112" actId="1076"/>
          <ac:picMkLst>
            <pc:docMk/>
            <pc:sldMk cId="0" sldId="260"/>
            <ac:picMk id="11" creationId="{DD5095FC-153A-2088-79BE-165D7F26D9C5}"/>
          </ac:picMkLst>
        </pc:picChg>
      </pc:sldChg>
      <pc:sldChg chg="addSp modSp mod">
        <pc:chgData name="Muluka Srikaran" userId="4a54afbf8d29609b" providerId="LiveId" clId="{14D037A7-1B91-4EA2-8581-06F8CAD1A1A6}" dt="2026-09-29T04:43:28.230" v="116" actId="14100"/>
        <pc:sldMkLst>
          <pc:docMk/>
          <pc:sldMk cId="0" sldId="261"/>
        </pc:sldMkLst>
        <pc:picChg chg="add mod">
          <ac:chgData name="Muluka Srikaran" userId="4a54afbf8d29609b" providerId="LiveId" clId="{14D037A7-1B91-4EA2-8581-06F8CAD1A1A6}" dt="2026-09-29T04:43:28.230" v="116" actId="14100"/>
          <ac:picMkLst>
            <pc:docMk/>
            <pc:sldMk cId="0" sldId="261"/>
            <ac:picMk id="3" creationId="{97BD4F61-F676-6A5D-7C53-0F4FE7B7A51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338ACC6-16C8-448A-A632-5479522D3E03}" type="datetimeFigureOut">
              <a:rPr lang="en-IN" smtClean="0"/>
              <a:t>29-09-2026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E09DD69-B1E2-4552-9E69-84CB069AD1CD}" type="slidenum">
              <a:rPr lang="en-IN" smtClean="0"/>
              <a:t>‹#›</a:t>
            </a:fld>
            <a:endParaRPr lang="en-IN"/>
          </a:p>
        </p:txBody>
      </p:sp>
    </p:spTree>
    <p:extLst>
      <p:ext uri="{BB962C8B-B14F-4D97-AF65-F5344CB8AC3E}">
        <p14:creationId xmlns:p14="http://schemas.microsoft.com/office/powerpoint/2010/main" val="3840879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09DD69-B1E2-4552-9E69-84CB069AD1CD}" type="slidenum">
              <a:rPr lang="en-IN" smtClean="0"/>
              <a:t>2</a:t>
            </a:fld>
            <a:endParaRPr lang="en-IN"/>
          </a:p>
        </p:txBody>
      </p:sp>
    </p:spTree>
    <p:extLst>
      <p:ext uri="{BB962C8B-B14F-4D97-AF65-F5344CB8AC3E}">
        <p14:creationId xmlns:p14="http://schemas.microsoft.com/office/powerpoint/2010/main" val="700535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9/29/2026</a:t>
            </a:fld>
            <a:endParaRPr lang="en-US" dirty="0"/>
          </a:p>
        </p:txBody>
      </p:sp>
      <p:sp>
        <p:nvSpPr>
          <p:cNvPr id="6" name="Holder 6"/>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6350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9/29/2026</a:t>
            </a:fld>
            <a:endParaRPr lang="en-US" dirty="0"/>
          </a:p>
        </p:txBody>
      </p:sp>
      <p:sp>
        <p:nvSpPr>
          <p:cNvPr id="6" name="Holder 6"/>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6350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9/29/2026</a:t>
            </a:fld>
            <a:endParaRPr lang="en-US" dirty="0"/>
          </a:p>
        </p:txBody>
      </p:sp>
      <p:sp>
        <p:nvSpPr>
          <p:cNvPr id="7" name="Holder 7"/>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6350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9/29/2026</a:t>
            </a:fld>
            <a:endParaRPr lang="en-US" dirty="0"/>
          </a:p>
        </p:txBody>
      </p:sp>
      <p:sp>
        <p:nvSpPr>
          <p:cNvPr id="5" name="Holder 5"/>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6350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123651" y="3044093"/>
            <a:ext cx="3859973" cy="2620176"/>
          </a:xfrm>
          <a:prstGeom prst="rect">
            <a:avLst/>
          </a:prstGeom>
        </p:spPr>
      </p:pic>
      <p:pic>
        <p:nvPicPr>
          <p:cNvPr id="17" name="bg object 17"/>
          <p:cNvPicPr/>
          <p:nvPr/>
        </p:nvPicPr>
        <p:blipFill>
          <a:blip r:embed="rId3" cstate="print"/>
          <a:stretch>
            <a:fillRect/>
          </a:stretch>
        </p:blipFill>
        <p:spPr>
          <a:xfrm>
            <a:off x="0" y="6376421"/>
            <a:ext cx="12189714" cy="479285"/>
          </a:xfrm>
          <a:prstGeom prst="rect">
            <a:avLst/>
          </a:prstGeom>
        </p:spPr>
      </p:pic>
      <p:sp>
        <p:nvSpPr>
          <p:cNvPr id="18" name="bg object 18"/>
          <p:cNvSpPr/>
          <p:nvPr/>
        </p:nvSpPr>
        <p:spPr>
          <a:xfrm>
            <a:off x="0" y="6354762"/>
            <a:ext cx="12192000" cy="503555"/>
          </a:xfrm>
          <a:custGeom>
            <a:avLst/>
            <a:gdLst/>
            <a:ahLst/>
            <a:cxnLst/>
            <a:rect l="l" t="t" r="r" b="b"/>
            <a:pathLst>
              <a:path w="12192000" h="503554">
                <a:moveTo>
                  <a:pt x="12192000" y="0"/>
                </a:moveTo>
                <a:lnTo>
                  <a:pt x="0" y="0"/>
                </a:lnTo>
                <a:lnTo>
                  <a:pt x="0" y="503237"/>
                </a:lnTo>
                <a:lnTo>
                  <a:pt x="12192000" y="503237"/>
                </a:lnTo>
                <a:lnTo>
                  <a:pt x="12192000" y="0"/>
                </a:lnTo>
                <a:close/>
              </a:path>
            </a:pathLst>
          </a:custGeom>
          <a:solidFill>
            <a:srgbClr val="006FC0"/>
          </a:solidFill>
        </p:spPr>
        <p:txBody>
          <a:bodyPr wrap="square" lIns="0" tIns="0" rIns="0" bIns="0" rtlCol="0"/>
          <a:lstStyle/>
          <a:p>
            <a:endParaRPr dirty="0"/>
          </a:p>
        </p:txBody>
      </p:sp>
      <p:pic>
        <p:nvPicPr>
          <p:cNvPr id="19" name="bg object 19"/>
          <p:cNvPicPr/>
          <p:nvPr/>
        </p:nvPicPr>
        <p:blipFill>
          <a:blip r:embed="rId4" cstate="print"/>
          <a:stretch>
            <a:fillRect/>
          </a:stretch>
        </p:blipFill>
        <p:spPr>
          <a:xfrm>
            <a:off x="10762653" y="144559"/>
            <a:ext cx="1273478" cy="589975"/>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9/29/2026</a:t>
            </a:fld>
            <a:endParaRPr lang="en-US" dirty="0"/>
          </a:p>
        </p:txBody>
      </p:sp>
      <p:sp>
        <p:nvSpPr>
          <p:cNvPr id="4" name="Holder 4"/>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6350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6376420"/>
            <a:ext cx="12189714" cy="479285"/>
          </a:xfrm>
          <a:prstGeom prst="rect">
            <a:avLst/>
          </a:prstGeom>
        </p:spPr>
      </p:pic>
      <p:sp>
        <p:nvSpPr>
          <p:cNvPr id="17" name="bg object 17"/>
          <p:cNvSpPr/>
          <p:nvPr/>
        </p:nvSpPr>
        <p:spPr>
          <a:xfrm>
            <a:off x="0" y="6354762"/>
            <a:ext cx="12192000" cy="503555"/>
          </a:xfrm>
          <a:custGeom>
            <a:avLst/>
            <a:gdLst/>
            <a:ahLst/>
            <a:cxnLst/>
            <a:rect l="l" t="t" r="r" b="b"/>
            <a:pathLst>
              <a:path w="12192000" h="503554">
                <a:moveTo>
                  <a:pt x="12192000" y="0"/>
                </a:moveTo>
                <a:lnTo>
                  <a:pt x="0" y="0"/>
                </a:lnTo>
                <a:lnTo>
                  <a:pt x="0" y="503237"/>
                </a:lnTo>
                <a:lnTo>
                  <a:pt x="12192000" y="503237"/>
                </a:lnTo>
                <a:lnTo>
                  <a:pt x="12192000" y="0"/>
                </a:lnTo>
                <a:close/>
              </a:path>
            </a:pathLst>
          </a:custGeom>
          <a:solidFill>
            <a:srgbClr val="006FC0"/>
          </a:solidFill>
        </p:spPr>
        <p:txBody>
          <a:bodyPr wrap="square" lIns="0" tIns="0" rIns="0" bIns="0" rtlCol="0"/>
          <a:lstStyle/>
          <a:p>
            <a:endParaRPr dirty="0"/>
          </a:p>
        </p:txBody>
      </p:sp>
      <p:sp>
        <p:nvSpPr>
          <p:cNvPr id="2" name="Holder 2"/>
          <p:cNvSpPr>
            <a:spLocks noGrp="1"/>
          </p:cNvSpPr>
          <p:nvPr>
            <p:ph type="title"/>
          </p:nvPr>
        </p:nvSpPr>
        <p:spPr>
          <a:xfrm>
            <a:off x="3535553" y="96392"/>
            <a:ext cx="5120893" cy="452120"/>
          </a:xfrm>
          <a:prstGeom prst="rect">
            <a:avLst/>
          </a:prstGeom>
        </p:spPr>
        <p:txBody>
          <a:bodyPr wrap="square" lIns="0" tIns="0" rIns="0" bIns="0">
            <a:spAutoFit/>
          </a:bodyPr>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10057" y="1253489"/>
            <a:ext cx="10171430" cy="477139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9/29/2026</a:t>
            </a:fld>
            <a:endParaRPr lang="en-US" dirty="0"/>
          </a:p>
        </p:txBody>
      </p:sp>
      <p:sp>
        <p:nvSpPr>
          <p:cNvPr id="6" name="Holder 6"/>
          <p:cNvSpPr>
            <a:spLocks noGrp="1"/>
          </p:cNvSpPr>
          <p:nvPr>
            <p:ph type="sldNum" sz="quarter" idx="7"/>
          </p:nvPr>
        </p:nvSpPr>
        <p:spPr>
          <a:xfrm>
            <a:off x="11350370" y="6464680"/>
            <a:ext cx="267970" cy="178434"/>
          </a:xfrm>
          <a:prstGeom prst="rect">
            <a:avLst/>
          </a:prstGeom>
        </p:spPr>
        <p:txBody>
          <a:bodyPr wrap="square" lIns="0" tIns="0" rIns="0" bIns="0">
            <a:spAutoFit/>
          </a:bodyPr>
          <a:lstStyle>
            <a:lvl1pPr>
              <a:defRPr sz="1200" b="1" i="0">
                <a:solidFill>
                  <a:schemeClr val="bg1"/>
                </a:solidFill>
                <a:latin typeface="Calibri"/>
                <a:cs typeface="Calibri"/>
              </a:defRPr>
            </a:lvl1pPr>
          </a:lstStyle>
          <a:p>
            <a:pPr marL="6350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hyperlink" Target="https://github.com/sangsaist/ZyraNav.git" TargetMode="External"/><Relationship Id="rId3" Type="http://schemas.openxmlformats.org/officeDocument/2006/relationships/image" Target="../media/image3.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6.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hyperlink" Target="https://youtu.be/RHVPofcaRwc?si=n4O10Khg6GdAecP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1.jpe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hyperlink" Target="https://www.dgms.gov.in/writereaddata/UploadFile/Standard_Note_2018.pdf" TargetMode="External"/><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hyperlink" Target="https://upload.indiacode.nic.in/showfile?actid=AC_CEN_15_16_00011_195235_1517807328486&amp;type=circular&amp;filename=strata_monitoring_in_longwall_workings_in_coal_mines-reg.pdf" TargetMode="External"/><Relationship Id="rId5" Type="http://schemas.openxmlformats.org/officeDocument/2006/relationships/hyperlink" Target="https://www.dgms.net/Coal%20Mines%20Regulation%202017.pdf" TargetMode="External"/><Relationship Id="rId4" Type="http://schemas.openxmlformats.org/officeDocument/2006/relationships/hyperlink" Target="https://www.dgms.net/Compilation%20of%20DGMS%20Circulars%20issued%20in%202017.pdf"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1470152" y="153161"/>
            <a:ext cx="8083550" cy="635000"/>
          </a:xfrm>
          <a:prstGeom prst="rect">
            <a:avLst/>
          </a:prstGeom>
        </p:spPr>
        <p:txBody>
          <a:bodyPr vert="horz" wrap="square" lIns="0" tIns="12065" rIns="0" bIns="0" rtlCol="0">
            <a:spAutoFit/>
          </a:bodyPr>
          <a:lstStyle/>
          <a:p>
            <a:pPr marL="12700">
              <a:lnSpc>
                <a:spcPct val="100000"/>
              </a:lnSpc>
              <a:spcBef>
                <a:spcPts val="95"/>
              </a:spcBef>
            </a:pPr>
            <a:r>
              <a:rPr sz="4000" spc="-114" dirty="0">
                <a:solidFill>
                  <a:srgbClr val="1F487C"/>
                </a:solidFill>
              </a:rPr>
              <a:t>SMART</a:t>
            </a:r>
            <a:r>
              <a:rPr sz="4000" spc="-30" dirty="0">
                <a:solidFill>
                  <a:srgbClr val="1F487C"/>
                </a:solidFill>
              </a:rPr>
              <a:t> </a:t>
            </a:r>
            <a:r>
              <a:rPr sz="4000" spc="90" dirty="0">
                <a:solidFill>
                  <a:srgbClr val="1F487C"/>
                </a:solidFill>
              </a:rPr>
              <a:t>INDIA</a:t>
            </a:r>
            <a:r>
              <a:rPr sz="4000" spc="-15" dirty="0">
                <a:solidFill>
                  <a:srgbClr val="1F487C"/>
                </a:solidFill>
              </a:rPr>
              <a:t> </a:t>
            </a:r>
            <a:r>
              <a:rPr sz="4000" dirty="0">
                <a:solidFill>
                  <a:srgbClr val="1F487C"/>
                </a:solidFill>
              </a:rPr>
              <a:t>HACKATHON</a:t>
            </a:r>
            <a:r>
              <a:rPr sz="4000" spc="-30" dirty="0">
                <a:solidFill>
                  <a:srgbClr val="1F487C"/>
                </a:solidFill>
              </a:rPr>
              <a:t> </a:t>
            </a:r>
            <a:r>
              <a:rPr sz="4000" spc="-55" dirty="0">
                <a:solidFill>
                  <a:srgbClr val="1F487C"/>
                </a:solidFill>
              </a:rPr>
              <a:t>202</a:t>
            </a:r>
            <a:r>
              <a:rPr lang="en-US" sz="4000" spc="-55" dirty="0">
                <a:solidFill>
                  <a:srgbClr val="1F487C"/>
                </a:solidFill>
              </a:rPr>
              <a:t>6</a:t>
            </a:r>
            <a:endParaRPr sz="4000" dirty="0"/>
          </a:p>
        </p:txBody>
      </p:sp>
      <p:sp>
        <p:nvSpPr>
          <p:cNvPr id="2" name="object 2"/>
          <p:cNvSpPr/>
          <p:nvPr/>
        </p:nvSpPr>
        <p:spPr>
          <a:xfrm>
            <a:off x="5656770" y="851535"/>
            <a:ext cx="4638675" cy="5155565"/>
          </a:xfrm>
          <a:custGeom>
            <a:avLst/>
            <a:gdLst/>
            <a:ahLst/>
            <a:cxnLst/>
            <a:rect l="l" t="t" r="r" b="b"/>
            <a:pathLst>
              <a:path w="4638675" h="5155565">
                <a:moveTo>
                  <a:pt x="1873313" y="0"/>
                </a:moveTo>
                <a:lnTo>
                  <a:pt x="1180020" y="0"/>
                </a:lnTo>
                <a:lnTo>
                  <a:pt x="1147349" y="5788"/>
                </a:lnTo>
                <a:lnTo>
                  <a:pt x="1092152" y="48702"/>
                </a:lnTo>
                <a:lnTo>
                  <a:pt x="1072197" y="83565"/>
                </a:lnTo>
                <a:lnTo>
                  <a:pt x="726249" y="881126"/>
                </a:lnTo>
                <a:lnTo>
                  <a:pt x="713605" y="920626"/>
                </a:lnTo>
                <a:lnTo>
                  <a:pt x="709390" y="962723"/>
                </a:lnTo>
                <a:lnTo>
                  <a:pt x="713605" y="1004820"/>
                </a:lnTo>
                <a:lnTo>
                  <a:pt x="726249" y="1044320"/>
                </a:lnTo>
                <a:lnTo>
                  <a:pt x="1072197" y="1842007"/>
                </a:lnTo>
                <a:lnTo>
                  <a:pt x="1092168" y="1876837"/>
                </a:lnTo>
                <a:lnTo>
                  <a:pt x="1118552" y="1903602"/>
                </a:lnTo>
                <a:lnTo>
                  <a:pt x="786955" y="2668269"/>
                </a:lnTo>
                <a:lnTo>
                  <a:pt x="769411" y="2714122"/>
                </a:lnTo>
                <a:lnTo>
                  <a:pt x="756880" y="2762295"/>
                </a:lnTo>
                <a:lnTo>
                  <a:pt x="749361" y="2812013"/>
                </a:lnTo>
                <a:lnTo>
                  <a:pt x="746855" y="2862500"/>
                </a:lnTo>
                <a:lnTo>
                  <a:pt x="749361" y="2912981"/>
                </a:lnTo>
                <a:lnTo>
                  <a:pt x="756880" y="2962681"/>
                </a:lnTo>
                <a:lnTo>
                  <a:pt x="769411" y="3010824"/>
                </a:lnTo>
                <a:lnTo>
                  <a:pt x="786955" y="3056636"/>
                </a:lnTo>
                <a:lnTo>
                  <a:pt x="1610550" y="4956022"/>
                </a:lnTo>
                <a:lnTo>
                  <a:pt x="1635991" y="5005818"/>
                </a:lnTo>
                <a:lnTo>
                  <a:pt x="1666114" y="5049317"/>
                </a:lnTo>
                <a:lnTo>
                  <a:pt x="1700357" y="5086022"/>
                </a:lnTo>
                <a:lnTo>
                  <a:pt x="1738162" y="5115434"/>
                </a:lnTo>
                <a:lnTo>
                  <a:pt x="1778968" y="5137059"/>
                </a:lnTo>
                <a:lnTo>
                  <a:pt x="1822215" y="5150398"/>
                </a:lnTo>
                <a:lnTo>
                  <a:pt x="1867344" y="5154955"/>
                </a:lnTo>
                <a:lnTo>
                  <a:pt x="3518090" y="5154955"/>
                </a:lnTo>
                <a:lnTo>
                  <a:pt x="3562089" y="5150398"/>
                </a:lnTo>
                <a:lnTo>
                  <a:pt x="3604828" y="5137059"/>
                </a:lnTo>
                <a:lnTo>
                  <a:pt x="3645500" y="5115434"/>
                </a:lnTo>
                <a:lnTo>
                  <a:pt x="3683294" y="5086022"/>
                </a:lnTo>
                <a:lnTo>
                  <a:pt x="3717402" y="5049317"/>
                </a:lnTo>
                <a:lnTo>
                  <a:pt x="3747017" y="5005818"/>
                </a:lnTo>
                <a:lnTo>
                  <a:pt x="3771328" y="4956022"/>
                </a:lnTo>
                <a:lnTo>
                  <a:pt x="4598479" y="3056635"/>
                </a:lnTo>
                <a:lnTo>
                  <a:pt x="4616023" y="3010824"/>
                </a:lnTo>
                <a:lnTo>
                  <a:pt x="4628554" y="2962681"/>
                </a:lnTo>
                <a:lnTo>
                  <a:pt x="4636073" y="2912981"/>
                </a:lnTo>
                <a:lnTo>
                  <a:pt x="4638579" y="2862500"/>
                </a:lnTo>
                <a:lnTo>
                  <a:pt x="4636073" y="2812013"/>
                </a:lnTo>
                <a:lnTo>
                  <a:pt x="4628554" y="2762295"/>
                </a:lnTo>
                <a:lnTo>
                  <a:pt x="4616023" y="2714122"/>
                </a:lnTo>
                <a:lnTo>
                  <a:pt x="4598479" y="2668269"/>
                </a:lnTo>
                <a:lnTo>
                  <a:pt x="4270937" y="1916176"/>
                </a:lnTo>
                <a:lnTo>
                  <a:pt x="1176972" y="1916176"/>
                </a:lnTo>
                <a:lnTo>
                  <a:pt x="1168640" y="1915798"/>
                </a:lnTo>
                <a:lnTo>
                  <a:pt x="1160414" y="1914683"/>
                </a:lnTo>
                <a:lnTo>
                  <a:pt x="1152308" y="1912854"/>
                </a:lnTo>
                <a:lnTo>
                  <a:pt x="1144503" y="1910387"/>
                </a:lnTo>
                <a:lnTo>
                  <a:pt x="1125029" y="1899539"/>
                </a:lnTo>
                <a:lnTo>
                  <a:pt x="1143698" y="1856739"/>
                </a:lnTo>
                <a:lnTo>
                  <a:pt x="1168717" y="1798954"/>
                </a:lnTo>
                <a:lnTo>
                  <a:pt x="1131925" y="1758499"/>
                </a:lnTo>
                <a:lnTo>
                  <a:pt x="817054" y="1035050"/>
                </a:lnTo>
                <a:lnTo>
                  <a:pt x="802100" y="962723"/>
                </a:lnTo>
                <a:lnTo>
                  <a:pt x="805838" y="925393"/>
                </a:lnTo>
                <a:lnTo>
                  <a:pt x="1123759" y="183261"/>
                </a:lnTo>
                <a:lnTo>
                  <a:pt x="1164034" y="129047"/>
                </a:lnTo>
                <a:lnTo>
                  <a:pt x="1219263" y="109219"/>
                </a:lnTo>
                <a:lnTo>
                  <a:pt x="1990783" y="109219"/>
                </a:lnTo>
                <a:lnTo>
                  <a:pt x="1979612" y="83565"/>
                </a:lnTo>
                <a:lnTo>
                  <a:pt x="1960252" y="48702"/>
                </a:lnTo>
                <a:lnTo>
                  <a:pt x="1934845" y="22399"/>
                </a:lnTo>
                <a:lnTo>
                  <a:pt x="1905246" y="5788"/>
                </a:lnTo>
                <a:lnTo>
                  <a:pt x="1873313" y="0"/>
                </a:lnTo>
                <a:close/>
              </a:path>
              <a:path w="4638675" h="5155565">
                <a:moveTo>
                  <a:pt x="673671" y="3125216"/>
                </a:moveTo>
                <a:lnTo>
                  <a:pt x="272351" y="3125216"/>
                </a:lnTo>
                <a:lnTo>
                  <a:pt x="253499" y="3128559"/>
                </a:lnTo>
                <a:lnTo>
                  <a:pt x="221559" y="3153344"/>
                </a:lnTo>
                <a:lnTo>
                  <a:pt x="9715" y="3635248"/>
                </a:lnTo>
                <a:lnTo>
                  <a:pt x="0" y="3682491"/>
                </a:lnTo>
                <a:lnTo>
                  <a:pt x="2428" y="3706864"/>
                </a:lnTo>
                <a:lnTo>
                  <a:pt x="209994" y="4191380"/>
                </a:lnTo>
                <a:lnTo>
                  <a:pt x="236315" y="4226814"/>
                </a:lnTo>
                <a:lnTo>
                  <a:pt x="272351" y="4239768"/>
                </a:lnTo>
                <a:lnTo>
                  <a:pt x="673671" y="4239768"/>
                </a:lnTo>
                <a:lnTo>
                  <a:pt x="724034" y="4211585"/>
                </a:lnTo>
                <a:lnTo>
                  <a:pt x="936307" y="3729735"/>
                </a:lnTo>
                <a:lnTo>
                  <a:pt x="946118" y="3682491"/>
                </a:lnTo>
                <a:lnTo>
                  <a:pt x="943665" y="3658119"/>
                </a:lnTo>
                <a:lnTo>
                  <a:pt x="735266" y="3173476"/>
                </a:lnTo>
                <a:lnTo>
                  <a:pt x="709326" y="3138154"/>
                </a:lnTo>
                <a:lnTo>
                  <a:pt x="673671" y="3125216"/>
                </a:lnTo>
                <a:close/>
              </a:path>
              <a:path w="4638675" h="5155565">
                <a:moveTo>
                  <a:pt x="3518090" y="569976"/>
                </a:moveTo>
                <a:lnTo>
                  <a:pt x="2192591" y="569976"/>
                </a:lnTo>
                <a:lnTo>
                  <a:pt x="2324036" y="871854"/>
                </a:lnTo>
                <a:lnTo>
                  <a:pt x="2336680" y="911353"/>
                </a:lnTo>
                <a:lnTo>
                  <a:pt x="2340895" y="953436"/>
                </a:lnTo>
                <a:lnTo>
                  <a:pt x="2336680" y="995495"/>
                </a:lnTo>
                <a:lnTo>
                  <a:pt x="2323981" y="1035050"/>
                </a:lnTo>
                <a:lnTo>
                  <a:pt x="1976691" y="1832610"/>
                </a:lnTo>
                <a:lnTo>
                  <a:pt x="1957276" y="1867473"/>
                </a:lnTo>
                <a:lnTo>
                  <a:pt x="1902253" y="1910387"/>
                </a:lnTo>
                <a:lnTo>
                  <a:pt x="1870265" y="1916176"/>
                </a:lnTo>
                <a:lnTo>
                  <a:pt x="4270937" y="1916176"/>
                </a:lnTo>
                <a:lnTo>
                  <a:pt x="3771328" y="768985"/>
                </a:lnTo>
                <a:lnTo>
                  <a:pt x="3747017" y="719172"/>
                </a:lnTo>
                <a:lnTo>
                  <a:pt x="3717402" y="675658"/>
                </a:lnTo>
                <a:lnTo>
                  <a:pt x="3683294" y="638939"/>
                </a:lnTo>
                <a:lnTo>
                  <a:pt x="3645500" y="609514"/>
                </a:lnTo>
                <a:lnTo>
                  <a:pt x="3604828" y="587880"/>
                </a:lnTo>
                <a:lnTo>
                  <a:pt x="3562089" y="574535"/>
                </a:lnTo>
                <a:lnTo>
                  <a:pt x="3518090" y="569976"/>
                </a:lnTo>
                <a:close/>
              </a:path>
              <a:path w="4638675" h="5155565">
                <a:moveTo>
                  <a:pt x="2097722" y="569976"/>
                </a:moveTo>
                <a:lnTo>
                  <a:pt x="1867344" y="569976"/>
                </a:lnTo>
                <a:lnTo>
                  <a:pt x="1822215" y="574535"/>
                </a:lnTo>
                <a:lnTo>
                  <a:pt x="1778968" y="587880"/>
                </a:lnTo>
                <a:lnTo>
                  <a:pt x="1738162" y="609514"/>
                </a:lnTo>
                <a:lnTo>
                  <a:pt x="1700357" y="638939"/>
                </a:lnTo>
                <a:lnTo>
                  <a:pt x="1666114" y="675658"/>
                </a:lnTo>
                <a:lnTo>
                  <a:pt x="1635991" y="719172"/>
                </a:lnTo>
                <a:lnTo>
                  <a:pt x="1610550" y="768985"/>
                </a:lnTo>
                <a:lnTo>
                  <a:pt x="1179639" y="1762632"/>
                </a:lnTo>
                <a:lnTo>
                  <a:pt x="1167574" y="1790700"/>
                </a:lnTo>
                <a:lnTo>
                  <a:pt x="1187590" y="1801814"/>
                </a:lnTo>
                <a:lnTo>
                  <a:pt x="1194429" y="1804009"/>
                </a:lnTo>
                <a:lnTo>
                  <a:pt x="1201626" y="1805638"/>
                </a:lnTo>
                <a:lnTo>
                  <a:pt x="1208942" y="1806624"/>
                </a:lnTo>
                <a:lnTo>
                  <a:pt x="1216342" y="1806955"/>
                </a:lnTo>
                <a:lnTo>
                  <a:pt x="1831022" y="1806955"/>
                </a:lnTo>
                <a:lnTo>
                  <a:pt x="1885568" y="1787064"/>
                </a:lnTo>
                <a:lnTo>
                  <a:pt x="1925256" y="1732788"/>
                </a:lnTo>
                <a:lnTo>
                  <a:pt x="2233231" y="1025651"/>
                </a:lnTo>
                <a:lnTo>
                  <a:pt x="2248180" y="953436"/>
                </a:lnTo>
                <a:lnTo>
                  <a:pt x="2244447" y="916102"/>
                </a:lnTo>
                <a:lnTo>
                  <a:pt x="2233231" y="881126"/>
                </a:lnTo>
                <a:lnTo>
                  <a:pt x="2097722" y="569976"/>
                </a:lnTo>
                <a:close/>
              </a:path>
              <a:path w="4638675" h="5155565">
                <a:moveTo>
                  <a:pt x="1990783" y="109219"/>
                </a:moveTo>
                <a:lnTo>
                  <a:pt x="1833943" y="109219"/>
                </a:lnTo>
                <a:lnTo>
                  <a:pt x="1862294" y="114341"/>
                </a:lnTo>
                <a:lnTo>
                  <a:pt x="1888537" y="129047"/>
                </a:lnTo>
                <a:lnTo>
                  <a:pt x="1911042" y="152350"/>
                </a:lnTo>
                <a:lnTo>
                  <a:pt x="1928177" y="183261"/>
                </a:lnTo>
                <a:lnTo>
                  <a:pt x="2092134" y="559688"/>
                </a:lnTo>
                <a:lnTo>
                  <a:pt x="2187003" y="559688"/>
                </a:lnTo>
                <a:lnTo>
                  <a:pt x="1990783" y="109219"/>
                </a:lnTo>
                <a:close/>
              </a:path>
            </a:pathLst>
          </a:custGeom>
          <a:solidFill>
            <a:srgbClr val="7E7E7E">
              <a:alpha val="14901"/>
            </a:srgbClr>
          </a:solidFill>
        </p:spPr>
        <p:txBody>
          <a:bodyPr wrap="square" lIns="0" tIns="0" rIns="0" bIns="0" rtlCol="0"/>
          <a:lstStyle/>
          <a:p>
            <a:endParaRPr dirty="0"/>
          </a:p>
        </p:txBody>
      </p:sp>
      <p:sp>
        <p:nvSpPr>
          <p:cNvPr id="4" name="object 4"/>
          <p:cNvSpPr txBox="1">
            <a:spLocks noGrp="1"/>
          </p:cNvSpPr>
          <p:nvPr>
            <p:ph type="body" idx="1"/>
          </p:nvPr>
        </p:nvSpPr>
        <p:spPr>
          <a:xfrm>
            <a:off x="571055" y="850900"/>
            <a:ext cx="10171430" cy="5576527"/>
          </a:xfrm>
          <a:prstGeom prst="rect">
            <a:avLst/>
          </a:prstGeom>
        </p:spPr>
        <p:txBody>
          <a:bodyPr vert="horz" wrap="square" lIns="0" tIns="13335" rIns="0" bIns="0" rtlCol="0">
            <a:spAutoFit/>
          </a:bodyPr>
          <a:lstStyle/>
          <a:p>
            <a:pPr marL="34925" algn="ctr">
              <a:lnSpc>
                <a:spcPct val="100000"/>
              </a:lnSpc>
              <a:spcBef>
                <a:spcPts val="105"/>
              </a:spcBef>
            </a:pPr>
            <a:r>
              <a:rPr dirty="0"/>
              <a:t>TITLE</a:t>
            </a:r>
            <a:r>
              <a:rPr spc="-100" dirty="0"/>
              <a:t> </a:t>
            </a:r>
            <a:r>
              <a:rPr spc="-20" dirty="0"/>
              <a:t>PAGE</a:t>
            </a:r>
          </a:p>
          <a:p>
            <a:pPr marL="297815" indent="-285115">
              <a:lnSpc>
                <a:spcPct val="100000"/>
              </a:lnSpc>
              <a:spcBef>
                <a:spcPts val="1835"/>
              </a:spcBef>
              <a:buFont typeface="Arial MT"/>
              <a:buChar char="•"/>
              <a:tabLst>
                <a:tab pos="297815" algn="l"/>
              </a:tabLst>
            </a:pPr>
            <a:r>
              <a:rPr sz="2400" dirty="0"/>
              <a:t>Problem</a:t>
            </a:r>
            <a:r>
              <a:rPr sz="2400" spc="-40" dirty="0"/>
              <a:t> </a:t>
            </a:r>
            <a:r>
              <a:rPr sz="2400" dirty="0"/>
              <a:t>Statement</a:t>
            </a:r>
            <a:r>
              <a:rPr sz="2400" spc="-55" dirty="0"/>
              <a:t> </a:t>
            </a:r>
            <a:r>
              <a:rPr sz="2400" dirty="0"/>
              <a:t>ID</a:t>
            </a:r>
            <a:r>
              <a:rPr sz="2400" spc="-35" dirty="0"/>
              <a:t> </a:t>
            </a:r>
            <a:r>
              <a:rPr sz="2400" dirty="0"/>
              <a:t>-</a:t>
            </a:r>
            <a:r>
              <a:rPr sz="2400" spc="-35" dirty="0"/>
              <a:t> </a:t>
            </a:r>
            <a:r>
              <a:rPr sz="2400" b="0" spc="-10" dirty="0">
                <a:latin typeface="Times New Roman"/>
                <a:cs typeface="Times New Roman"/>
              </a:rPr>
              <a:t>2</a:t>
            </a:r>
            <a:r>
              <a:rPr lang="en-US" sz="2400" b="0" spc="-10" dirty="0">
                <a:latin typeface="Times New Roman"/>
                <a:cs typeface="Times New Roman"/>
              </a:rPr>
              <a:t>6025</a:t>
            </a:r>
            <a:endParaRPr sz="2400" dirty="0">
              <a:latin typeface="Times New Roman"/>
              <a:cs typeface="Times New Roman"/>
            </a:endParaRPr>
          </a:p>
          <a:p>
            <a:pPr>
              <a:lnSpc>
                <a:spcPct val="100000"/>
              </a:lnSpc>
              <a:spcBef>
                <a:spcPts val="120"/>
              </a:spcBef>
              <a:buFont typeface="Arial MT"/>
              <a:buChar char="•"/>
            </a:pPr>
            <a:endParaRPr sz="2400" dirty="0">
              <a:latin typeface="Times New Roman"/>
              <a:cs typeface="Times New Roman"/>
            </a:endParaRPr>
          </a:p>
          <a:p>
            <a:pPr marL="297815" indent="-285115">
              <a:lnSpc>
                <a:spcPct val="100000"/>
              </a:lnSpc>
              <a:buFont typeface="Arial MT"/>
              <a:buChar char="•"/>
              <a:tabLst>
                <a:tab pos="297815" algn="l"/>
              </a:tabLst>
            </a:pPr>
            <a:r>
              <a:rPr sz="2400" dirty="0"/>
              <a:t>Problem</a:t>
            </a:r>
            <a:r>
              <a:rPr sz="2400" spc="-25" dirty="0"/>
              <a:t> </a:t>
            </a:r>
            <a:r>
              <a:rPr sz="2400" dirty="0"/>
              <a:t>Statement</a:t>
            </a:r>
            <a:r>
              <a:rPr sz="2400" spc="-80" dirty="0"/>
              <a:t> </a:t>
            </a:r>
            <a:r>
              <a:rPr sz="2400" dirty="0"/>
              <a:t>Title</a:t>
            </a:r>
            <a:r>
              <a:rPr sz="2400" spc="-35" dirty="0"/>
              <a:t> </a:t>
            </a:r>
            <a:r>
              <a:rPr sz="2400" dirty="0"/>
              <a:t>-</a:t>
            </a:r>
            <a:r>
              <a:rPr sz="2400" spc="-25" dirty="0"/>
              <a:t> </a:t>
            </a:r>
            <a:r>
              <a:rPr lang="en-IN" sz="2400" b="0" dirty="0"/>
              <a:t>Development of an AI-enabled Low Cost Real Time Mine Subsidence Monitoring, Prediction and Early Warning System for Underground Coal Mines in India</a:t>
            </a:r>
          </a:p>
          <a:p>
            <a:pPr marL="297815" indent="-285115">
              <a:lnSpc>
                <a:spcPct val="100000"/>
              </a:lnSpc>
              <a:buFont typeface="Arial MT"/>
              <a:buChar char="•"/>
              <a:tabLst>
                <a:tab pos="297815" algn="l"/>
              </a:tabLst>
            </a:pPr>
            <a:endParaRPr lang="en-IN" sz="2400" dirty="0"/>
          </a:p>
          <a:p>
            <a:pPr marL="297815" indent="-285115">
              <a:lnSpc>
                <a:spcPct val="100000"/>
              </a:lnSpc>
              <a:buFont typeface="Arial MT"/>
              <a:buChar char="•"/>
              <a:tabLst>
                <a:tab pos="297815" algn="l"/>
              </a:tabLst>
            </a:pPr>
            <a:r>
              <a:rPr sz="2400" dirty="0"/>
              <a:t>Theme</a:t>
            </a:r>
            <a:r>
              <a:rPr sz="2400" spc="-15" dirty="0"/>
              <a:t> </a:t>
            </a:r>
            <a:r>
              <a:rPr lang="en-IN" sz="2400" dirty="0"/>
              <a:t>–</a:t>
            </a:r>
            <a:r>
              <a:rPr lang="en-US" sz="2400" dirty="0"/>
              <a:t> </a:t>
            </a:r>
            <a:r>
              <a:rPr lang="en-US" sz="2400" b="0" dirty="0" err="1"/>
              <a:t>SmartAutomation</a:t>
            </a:r>
            <a:endParaRPr lang="en-US" sz="2400" b="0" dirty="0"/>
          </a:p>
          <a:p>
            <a:pPr marL="12700">
              <a:lnSpc>
                <a:spcPct val="100000"/>
              </a:lnSpc>
              <a:tabLst>
                <a:tab pos="297815" algn="l"/>
              </a:tabLst>
            </a:pPr>
            <a:endParaRPr sz="2400" b="0" dirty="0">
              <a:latin typeface="Times New Roman"/>
              <a:cs typeface="Times New Roman"/>
            </a:endParaRPr>
          </a:p>
          <a:p>
            <a:pPr marL="297815" indent="-285115">
              <a:lnSpc>
                <a:spcPct val="100000"/>
              </a:lnSpc>
              <a:buFont typeface="Arial MT"/>
              <a:buChar char="•"/>
              <a:tabLst>
                <a:tab pos="297815" algn="l"/>
              </a:tabLst>
            </a:pPr>
            <a:r>
              <a:rPr sz="2400" dirty="0"/>
              <a:t>PS</a:t>
            </a:r>
            <a:r>
              <a:rPr sz="2400" spc="-10" dirty="0"/>
              <a:t> </a:t>
            </a:r>
            <a:r>
              <a:rPr sz="2400" dirty="0"/>
              <a:t>Category -</a:t>
            </a:r>
            <a:r>
              <a:rPr sz="2400" spc="-5" dirty="0"/>
              <a:t> </a:t>
            </a:r>
            <a:r>
              <a:rPr sz="2400" b="0" spc="-10" dirty="0">
                <a:latin typeface="Times New Roman"/>
                <a:cs typeface="Times New Roman"/>
              </a:rPr>
              <a:t>Hardware</a:t>
            </a:r>
            <a:endParaRPr sz="2400" dirty="0">
              <a:latin typeface="Times New Roman"/>
              <a:cs typeface="Times New Roman"/>
            </a:endParaRPr>
          </a:p>
          <a:p>
            <a:pPr>
              <a:lnSpc>
                <a:spcPct val="100000"/>
              </a:lnSpc>
              <a:spcBef>
                <a:spcPts val="120"/>
              </a:spcBef>
              <a:buFont typeface="Arial MT"/>
              <a:buChar char="•"/>
            </a:pPr>
            <a:endParaRPr sz="2400" dirty="0">
              <a:latin typeface="Times New Roman"/>
              <a:cs typeface="Times New Roman"/>
            </a:endParaRPr>
          </a:p>
          <a:p>
            <a:pPr marL="297815" indent="-285115">
              <a:lnSpc>
                <a:spcPct val="100000"/>
              </a:lnSpc>
              <a:buFont typeface="Arial MT"/>
              <a:buChar char="•"/>
              <a:tabLst>
                <a:tab pos="297815" algn="l"/>
              </a:tabLst>
            </a:pPr>
            <a:r>
              <a:rPr sz="2400" spc="-45" dirty="0"/>
              <a:t>Team</a:t>
            </a:r>
            <a:r>
              <a:rPr sz="2400" spc="-60" dirty="0"/>
              <a:t> </a:t>
            </a:r>
            <a:r>
              <a:rPr sz="2400" dirty="0"/>
              <a:t>ID</a:t>
            </a:r>
            <a:r>
              <a:rPr sz="2400" spc="-45" dirty="0"/>
              <a:t> </a:t>
            </a:r>
            <a:r>
              <a:rPr sz="2400" spc="-10" dirty="0"/>
              <a:t>-</a:t>
            </a:r>
            <a:r>
              <a:rPr lang="en-US" sz="2400" b="0" spc="-10" dirty="0"/>
              <a:t>168543</a:t>
            </a:r>
            <a:endParaRPr sz="2400" dirty="0">
              <a:latin typeface="Times New Roman"/>
              <a:cs typeface="Times New Roman"/>
            </a:endParaRPr>
          </a:p>
          <a:p>
            <a:pPr>
              <a:lnSpc>
                <a:spcPct val="100000"/>
              </a:lnSpc>
              <a:spcBef>
                <a:spcPts val="120"/>
              </a:spcBef>
              <a:buFont typeface="Arial MT"/>
              <a:buChar char="•"/>
            </a:pPr>
            <a:endParaRPr sz="2400" dirty="0">
              <a:latin typeface="Times New Roman"/>
              <a:cs typeface="Times New Roman"/>
            </a:endParaRPr>
          </a:p>
          <a:p>
            <a:pPr marL="297815" indent="-285115">
              <a:lnSpc>
                <a:spcPct val="100000"/>
              </a:lnSpc>
              <a:buFont typeface="Arial MT"/>
              <a:buChar char="•"/>
              <a:tabLst>
                <a:tab pos="297815" algn="l"/>
              </a:tabLst>
            </a:pPr>
            <a:r>
              <a:rPr sz="2400" spc="-45" dirty="0"/>
              <a:t>Team</a:t>
            </a:r>
            <a:r>
              <a:rPr sz="2400" spc="-55" dirty="0"/>
              <a:t> </a:t>
            </a:r>
            <a:r>
              <a:rPr sz="2400" dirty="0"/>
              <a:t>Name</a:t>
            </a:r>
            <a:r>
              <a:rPr sz="2400" spc="-45" dirty="0"/>
              <a:t> </a:t>
            </a:r>
            <a:r>
              <a:rPr sz="2400" dirty="0"/>
              <a:t>–</a:t>
            </a:r>
            <a:r>
              <a:rPr lang="en-US" sz="2400" b="0" dirty="0"/>
              <a:t>VITV KhanRakshak</a:t>
            </a:r>
            <a:endParaRPr sz="2400" dirty="0">
              <a:latin typeface="Times New Roman"/>
              <a:cs typeface="Times New Roman"/>
            </a:endParaRPr>
          </a:p>
        </p:txBody>
      </p:sp>
      <p:pic>
        <p:nvPicPr>
          <p:cNvPr id="6" name="object 6"/>
          <p:cNvPicPr/>
          <p:nvPr/>
        </p:nvPicPr>
        <p:blipFill>
          <a:blip r:embed="rId2" cstate="print"/>
          <a:stretch>
            <a:fillRect/>
          </a:stretch>
        </p:blipFill>
        <p:spPr>
          <a:xfrm>
            <a:off x="6718427" y="2076437"/>
            <a:ext cx="3456813" cy="3697211"/>
          </a:xfrm>
          <a:prstGeom prst="rect">
            <a:avLst/>
          </a:prstGeom>
        </p:spPr>
      </p:pic>
      <p:pic>
        <p:nvPicPr>
          <p:cNvPr id="8" name="Picture 7">
            <a:extLst>
              <a:ext uri="{FF2B5EF4-FFF2-40B4-BE49-F238E27FC236}">
                <a16:creationId xmlns:a16="http://schemas.microsoft.com/office/drawing/2014/main" id="{D3F36BF8-5951-5283-362D-7C3CAF6FDF70}"/>
              </a:ext>
            </a:extLst>
          </p:cNvPr>
          <p:cNvPicPr>
            <a:picLocks noChangeAspect="1"/>
          </p:cNvPicPr>
          <p:nvPr/>
        </p:nvPicPr>
        <p:blipFill>
          <a:blip r:embed="rId3"/>
          <a:stretch>
            <a:fillRect/>
          </a:stretch>
        </p:blipFill>
        <p:spPr>
          <a:xfrm>
            <a:off x="9660249" y="0"/>
            <a:ext cx="2514818" cy="12040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00200" y="55552"/>
            <a:ext cx="8915400" cy="566822"/>
          </a:xfrm>
          <a:prstGeom prst="rect">
            <a:avLst/>
          </a:prstGeom>
        </p:spPr>
        <p:txBody>
          <a:bodyPr vert="horz" wrap="square" lIns="0" tIns="12700" rIns="0" bIns="0" rtlCol="0">
            <a:spAutoFit/>
          </a:bodyPr>
          <a:lstStyle/>
          <a:p>
            <a:pPr marL="2980055" marR="5080" indent="-2967990">
              <a:lnSpc>
                <a:spcPct val="100000"/>
              </a:lnSpc>
              <a:spcBef>
                <a:spcPts val="100"/>
              </a:spcBef>
            </a:pPr>
            <a:r>
              <a:rPr lang="en-IN" b="1" dirty="0">
                <a:latin typeface="Times New Roman" panose="02020603050405020304" pitchFamily="18" charset="0"/>
                <a:cs typeface="Times New Roman" panose="02020603050405020304" pitchFamily="18" charset="0"/>
              </a:rPr>
              <a:t>KHANRAKSHAK:AI-Enabled Surface Deformation Digital Twin, Adaptive LoRa Mesh, and Risk-Aware Worker Early-Warning System</a:t>
            </a:r>
            <a:endParaRPr dirty="0">
              <a:latin typeface="Times New Roman" panose="02020603050405020304" pitchFamily="18" charset="0"/>
              <a:cs typeface="Times New Roman" panose="02020603050405020304" pitchFamily="18" charset="0"/>
            </a:endParaRPr>
          </a:p>
        </p:txBody>
      </p:sp>
      <p:sp>
        <p:nvSpPr>
          <p:cNvPr id="2" name="object 2"/>
          <p:cNvSpPr txBox="1"/>
          <p:nvPr/>
        </p:nvSpPr>
        <p:spPr>
          <a:xfrm>
            <a:off x="8382000" y="2376033"/>
            <a:ext cx="2581910" cy="330835"/>
          </a:xfrm>
          <a:prstGeom prst="rect">
            <a:avLst/>
          </a:prstGeom>
        </p:spPr>
        <p:txBody>
          <a:bodyPr vert="horz" wrap="square" lIns="0" tIns="13335" rIns="0" bIns="0" rtlCol="0">
            <a:spAutoFit/>
          </a:bodyPr>
          <a:lstStyle/>
          <a:p>
            <a:pPr marL="12700">
              <a:lnSpc>
                <a:spcPct val="100000"/>
              </a:lnSpc>
              <a:spcBef>
                <a:spcPts val="105"/>
              </a:spcBef>
            </a:pPr>
            <a:r>
              <a:rPr sz="2000" b="1" spc="-10" dirty="0">
                <a:solidFill>
                  <a:srgbClr val="1F487C"/>
                </a:solidFill>
                <a:uFill>
                  <a:solidFill>
                    <a:srgbClr val="1F487C"/>
                  </a:solidFill>
                </a:uFill>
                <a:latin typeface="Calibri"/>
                <a:cs typeface="Calibri"/>
              </a:rPr>
              <a:t>Innovation/Uniqueness:</a:t>
            </a:r>
            <a:endParaRPr sz="2000" dirty="0">
              <a:latin typeface="Calibri"/>
              <a:cs typeface="Calibri"/>
            </a:endParaRPr>
          </a:p>
        </p:txBody>
      </p:sp>
      <p:sp>
        <p:nvSpPr>
          <p:cNvPr id="11" name="object 11"/>
          <p:cNvSpPr txBox="1"/>
          <p:nvPr/>
        </p:nvSpPr>
        <p:spPr>
          <a:xfrm>
            <a:off x="304801" y="763419"/>
            <a:ext cx="5363210" cy="1590820"/>
          </a:xfrm>
          <a:prstGeom prst="rect">
            <a:avLst/>
          </a:prstGeom>
        </p:spPr>
        <p:txBody>
          <a:bodyPr vert="horz" wrap="square" lIns="0" tIns="51435" rIns="0" bIns="0" rtlCol="0">
            <a:spAutoFit/>
          </a:bodyPr>
          <a:lstStyle/>
          <a:p>
            <a:pPr marL="12700">
              <a:lnSpc>
                <a:spcPct val="100000"/>
              </a:lnSpc>
              <a:spcBef>
                <a:spcPts val="405"/>
              </a:spcBef>
            </a:pPr>
            <a:r>
              <a:rPr sz="2000" b="1" spc="-10" dirty="0">
                <a:solidFill>
                  <a:srgbClr val="1F487C"/>
                </a:solidFill>
                <a:uFill>
                  <a:solidFill>
                    <a:srgbClr val="1F487C"/>
                  </a:solidFill>
                </a:uFill>
                <a:latin typeface="Calibri"/>
                <a:cs typeface="Calibri"/>
              </a:rPr>
              <a:t>Problem</a:t>
            </a:r>
            <a:r>
              <a:rPr lang="en-US" sz="2000" b="1" spc="-10" dirty="0">
                <a:solidFill>
                  <a:srgbClr val="1F487C"/>
                </a:solidFill>
                <a:uFill>
                  <a:solidFill>
                    <a:srgbClr val="1F487C"/>
                  </a:solidFill>
                </a:uFill>
                <a:latin typeface="Calibri"/>
                <a:cs typeface="Calibri"/>
              </a:rPr>
              <a:t>:</a:t>
            </a:r>
            <a:r>
              <a:rPr lang="en-US" sz="1700" b="1" dirty="0">
                <a:solidFill>
                  <a:srgbClr val="0D0D0D"/>
                </a:solidFill>
                <a:latin typeface="Times New Roman"/>
                <a:cs typeface="Times New Roman"/>
              </a:rPr>
              <a:t> </a:t>
            </a:r>
            <a:r>
              <a:rPr lang="en-US" sz="1600" b="1" dirty="0">
                <a:solidFill>
                  <a:srgbClr val="0D0D0D"/>
                </a:solidFill>
                <a:latin typeface="Times New Roman"/>
                <a:cs typeface="Times New Roman"/>
              </a:rPr>
              <a:t>Surface subsidence </a:t>
            </a:r>
            <a:r>
              <a:rPr lang="en-US" sz="1600" dirty="0">
                <a:solidFill>
                  <a:srgbClr val="0D0D0D"/>
                </a:solidFill>
                <a:latin typeface="Times New Roman"/>
                <a:cs typeface="Times New Roman"/>
              </a:rPr>
              <a:t>above underground coal panels often develops progressively through small changes in tilt, displacement, vibration and crack formation. When these signals are observed separately or only after visible failure operators lose valuable </a:t>
            </a:r>
            <a:r>
              <a:rPr lang="en-US" sz="1600" b="1" dirty="0">
                <a:solidFill>
                  <a:srgbClr val="0D0D0D"/>
                </a:solidFill>
                <a:latin typeface="Times New Roman"/>
                <a:cs typeface="Times New Roman"/>
              </a:rPr>
              <a:t>time to identify the affected area and protect workers.</a:t>
            </a:r>
            <a:endParaRPr lang="en-US" sz="1600" dirty="0">
              <a:latin typeface="Times New Roman"/>
              <a:cs typeface="Times New Roman"/>
            </a:endParaRPr>
          </a:p>
        </p:txBody>
      </p:sp>
      <p:sp>
        <p:nvSpPr>
          <p:cNvPr id="12" name="object 12"/>
          <p:cNvSpPr txBox="1"/>
          <p:nvPr/>
        </p:nvSpPr>
        <p:spPr>
          <a:xfrm>
            <a:off x="5972811" y="748941"/>
            <a:ext cx="6219190" cy="1565172"/>
          </a:xfrm>
          <a:prstGeom prst="rect">
            <a:avLst/>
          </a:prstGeom>
        </p:spPr>
        <p:txBody>
          <a:bodyPr vert="horz" wrap="square" lIns="0" tIns="13335" rIns="0" bIns="0" rtlCol="0">
            <a:spAutoFit/>
          </a:bodyPr>
          <a:lstStyle/>
          <a:p>
            <a:pPr marL="46355">
              <a:lnSpc>
                <a:spcPct val="100000"/>
              </a:lnSpc>
              <a:spcBef>
                <a:spcPts val="105"/>
              </a:spcBef>
            </a:pPr>
            <a:r>
              <a:rPr sz="2000" b="1" dirty="0">
                <a:solidFill>
                  <a:srgbClr val="1F487C"/>
                </a:solidFill>
                <a:uFill>
                  <a:solidFill>
                    <a:srgbClr val="1F487C"/>
                  </a:solidFill>
                </a:uFill>
                <a:latin typeface="Calibri"/>
                <a:cs typeface="Calibri"/>
              </a:rPr>
              <a:t>Our</a:t>
            </a:r>
            <a:r>
              <a:rPr sz="2000" b="1" spc="-25" dirty="0">
                <a:solidFill>
                  <a:srgbClr val="1F487C"/>
                </a:solidFill>
                <a:uFill>
                  <a:solidFill>
                    <a:srgbClr val="1F487C"/>
                  </a:solidFill>
                </a:uFill>
                <a:latin typeface="Calibri"/>
                <a:cs typeface="Calibri"/>
              </a:rPr>
              <a:t> </a:t>
            </a:r>
            <a:r>
              <a:rPr sz="2000" b="1" dirty="0">
                <a:solidFill>
                  <a:srgbClr val="1F487C"/>
                </a:solidFill>
                <a:uFill>
                  <a:solidFill>
                    <a:srgbClr val="1F487C"/>
                  </a:solidFill>
                </a:uFill>
                <a:latin typeface="Calibri"/>
                <a:cs typeface="Calibri"/>
              </a:rPr>
              <a:t>Idea</a:t>
            </a:r>
            <a:r>
              <a:rPr sz="2000" b="1" spc="-20" dirty="0">
                <a:solidFill>
                  <a:srgbClr val="1F487C"/>
                </a:solidFill>
                <a:uFill>
                  <a:solidFill>
                    <a:srgbClr val="1F487C"/>
                  </a:solidFill>
                </a:uFill>
                <a:latin typeface="Calibri"/>
                <a:cs typeface="Calibri"/>
              </a:rPr>
              <a:t> </a:t>
            </a:r>
            <a:r>
              <a:rPr sz="2000" b="1" spc="-50" dirty="0">
                <a:solidFill>
                  <a:srgbClr val="1F487C"/>
                </a:solidFill>
                <a:uFill>
                  <a:solidFill>
                    <a:srgbClr val="1F487C"/>
                  </a:solidFill>
                </a:uFill>
                <a:latin typeface="Calibri"/>
                <a:cs typeface="Calibri"/>
              </a:rPr>
              <a:t>:</a:t>
            </a:r>
            <a:r>
              <a:rPr lang="en-US" sz="2000" b="1" spc="-50" dirty="0">
                <a:solidFill>
                  <a:srgbClr val="1F487C"/>
                </a:solidFill>
                <a:uFill>
                  <a:solidFill>
                    <a:srgbClr val="1F487C"/>
                  </a:solidFill>
                </a:uFill>
                <a:latin typeface="Calibri"/>
                <a:cs typeface="Calibri"/>
              </a:rPr>
              <a:t> </a:t>
            </a:r>
            <a:r>
              <a:rPr lang="en-US" sz="1600" b="1" spc="-50" dirty="0">
                <a:solidFill>
                  <a:schemeClr val="tx1"/>
                </a:solidFill>
                <a:uFill>
                  <a:solidFill>
                    <a:srgbClr val="1F487C"/>
                  </a:solidFill>
                </a:uFill>
                <a:latin typeface="Times New Roman" panose="02020603050405020304" pitchFamily="18" charset="0"/>
                <a:cs typeface="Times New Roman" panose="02020603050405020304" pitchFamily="18" charset="0"/>
              </a:rPr>
              <a:t>KHANRAKSHAK </a:t>
            </a:r>
            <a:r>
              <a:rPr lang="en-US" sz="1600" spc="-50" dirty="0">
                <a:solidFill>
                  <a:schemeClr val="tx1"/>
                </a:solidFill>
                <a:uFill>
                  <a:solidFill>
                    <a:srgbClr val="1F487C"/>
                  </a:solidFill>
                </a:uFill>
                <a:latin typeface="Times New Roman" panose="02020603050405020304" pitchFamily="18" charset="0"/>
                <a:cs typeface="Times New Roman" panose="02020603050405020304" pitchFamily="18" charset="0"/>
              </a:rPr>
              <a:t>is a low-cost, AI-enabled surface monitoring network deployed above underground coal panels. It combines distributed deformation sensors, adaptive LoRa mesh communication</a:t>
            </a:r>
            <a:r>
              <a:rPr lang="en-US" sz="1600" b="1" spc="-50" dirty="0">
                <a:solidFill>
                  <a:schemeClr val="tx1"/>
                </a:solidFill>
                <a:uFill>
                  <a:solidFill>
                    <a:srgbClr val="1F487C"/>
                  </a:solidFill>
                </a:uFill>
                <a:latin typeface="Times New Roman" panose="02020603050405020304" pitchFamily="18" charset="0"/>
                <a:cs typeface="Times New Roman" panose="02020603050405020304" pitchFamily="18" charset="0"/>
              </a:rPr>
              <a:t>, edge-based risk intelligence, GIS/3D visualization</a:t>
            </a:r>
            <a:r>
              <a:rPr lang="en-US" sz="1600" spc="-50" dirty="0">
                <a:solidFill>
                  <a:schemeClr val="tx1"/>
                </a:solidFill>
                <a:uFill>
                  <a:solidFill>
                    <a:srgbClr val="1F487C"/>
                  </a:solidFill>
                </a:uFill>
                <a:latin typeface="Times New Roman" panose="02020603050405020304" pitchFamily="18" charset="0"/>
                <a:cs typeface="Times New Roman" panose="02020603050405020304" pitchFamily="18" charset="0"/>
              </a:rPr>
              <a:t> and worker-specific alerts.</a:t>
            </a:r>
          </a:p>
          <a:p>
            <a:pPr marL="46355">
              <a:lnSpc>
                <a:spcPct val="100000"/>
              </a:lnSpc>
              <a:spcBef>
                <a:spcPts val="105"/>
              </a:spcBef>
            </a:pPr>
            <a:r>
              <a:rPr lang="en-US" sz="1600" b="1" spc="-50" dirty="0">
                <a:solidFill>
                  <a:schemeClr val="tx1"/>
                </a:solidFill>
                <a:uFill>
                  <a:solidFill>
                    <a:srgbClr val="1F487C"/>
                  </a:solidFill>
                </a:uFill>
                <a:latin typeface="Times New Roman" panose="02020603050405020304" pitchFamily="18" charset="0"/>
                <a:cs typeface="Times New Roman" panose="02020603050405020304" pitchFamily="18" charset="0"/>
              </a:rPr>
              <a:t>KHANRAKSHAK</a:t>
            </a:r>
            <a:r>
              <a:rPr lang="en-US" sz="1600" b="1" dirty="0">
                <a:solidFill>
                  <a:schemeClr val="tx1"/>
                </a:solidFill>
                <a:latin typeface="Times New Roman" panose="02020603050405020304" pitchFamily="18" charset="0"/>
                <a:cs typeface="Times New Roman" panose="02020603050405020304" pitchFamily="18" charset="0"/>
              </a:rPr>
              <a:t> turns distributed sensor observations into a complete “detect → understand → warn → respond” safety loop.</a:t>
            </a:r>
            <a:endParaRPr sz="1600" b="1" dirty="0">
              <a:solidFill>
                <a:schemeClr val="tx1"/>
              </a:solidFill>
              <a:latin typeface="Times New Roman" panose="02020603050405020304" pitchFamily="18" charset="0"/>
              <a:cs typeface="Times New Roman" panose="02020603050405020304" pitchFamily="18" charset="0"/>
            </a:endParaRPr>
          </a:p>
        </p:txBody>
      </p:sp>
      <p:sp>
        <p:nvSpPr>
          <p:cNvPr id="13" name="object 13"/>
          <p:cNvSpPr txBox="1"/>
          <p:nvPr/>
        </p:nvSpPr>
        <p:spPr>
          <a:xfrm>
            <a:off x="92707" y="2303987"/>
            <a:ext cx="3999229" cy="4458272"/>
          </a:xfrm>
          <a:prstGeom prst="rect">
            <a:avLst/>
          </a:prstGeom>
        </p:spPr>
        <p:txBody>
          <a:bodyPr vert="horz" wrap="square" lIns="0" tIns="71755" rIns="0" bIns="0" rtlCol="0">
            <a:spAutoFit/>
          </a:bodyPr>
          <a:lstStyle/>
          <a:p>
            <a:pPr marL="121920">
              <a:lnSpc>
                <a:spcPct val="100000"/>
              </a:lnSpc>
              <a:spcBef>
                <a:spcPts val="565"/>
              </a:spcBef>
            </a:pPr>
            <a:r>
              <a:rPr lang="en-US" sz="2000" b="1" dirty="0">
                <a:solidFill>
                  <a:srgbClr val="1F487C"/>
                </a:solidFill>
                <a:uFill>
                  <a:solidFill>
                    <a:srgbClr val="1F487C"/>
                  </a:solidFill>
                </a:uFill>
                <a:latin typeface="Calibri"/>
                <a:cs typeface="Calibri"/>
              </a:rPr>
              <a:t>   </a:t>
            </a:r>
            <a:r>
              <a:rPr sz="2000" b="1" dirty="0">
                <a:solidFill>
                  <a:srgbClr val="1F487C"/>
                </a:solidFill>
                <a:uFill>
                  <a:solidFill>
                    <a:srgbClr val="1F487C"/>
                  </a:solidFill>
                </a:uFill>
                <a:latin typeface="Calibri"/>
                <a:cs typeface="Calibri"/>
              </a:rPr>
              <a:t>Proposed</a:t>
            </a:r>
            <a:r>
              <a:rPr sz="2000" b="1" spc="-40" dirty="0">
                <a:solidFill>
                  <a:srgbClr val="1F487C"/>
                </a:solidFill>
                <a:uFill>
                  <a:solidFill>
                    <a:srgbClr val="1F487C"/>
                  </a:solidFill>
                </a:uFill>
                <a:latin typeface="Calibri"/>
                <a:cs typeface="Calibri"/>
              </a:rPr>
              <a:t> </a:t>
            </a:r>
            <a:r>
              <a:rPr sz="2000" b="1" dirty="0">
                <a:solidFill>
                  <a:srgbClr val="1F487C"/>
                </a:solidFill>
                <a:uFill>
                  <a:solidFill>
                    <a:srgbClr val="1F487C"/>
                  </a:solidFill>
                </a:uFill>
                <a:latin typeface="Calibri"/>
                <a:cs typeface="Calibri"/>
              </a:rPr>
              <a:t>Solution</a:t>
            </a:r>
            <a:r>
              <a:rPr sz="2000" b="1" spc="-65" dirty="0">
                <a:solidFill>
                  <a:srgbClr val="1F487C"/>
                </a:solidFill>
                <a:uFill>
                  <a:solidFill>
                    <a:srgbClr val="1F487C"/>
                  </a:solidFill>
                </a:uFill>
                <a:latin typeface="Calibri"/>
                <a:cs typeface="Calibri"/>
              </a:rPr>
              <a:t> </a:t>
            </a:r>
            <a:r>
              <a:rPr sz="2000" b="1" spc="-50" dirty="0">
                <a:solidFill>
                  <a:srgbClr val="1F487C"/>
                </a:solidFill>
                <a:uFill>
                  <a:solidFill>
                    <a:srgbClr val="1F487C"/>
                  </a:solidFill>
                </a:uFill>
                <a:latin typeface="Calibri"/>
                <a:cs typeface="Calibri"/>
              </a:rPr>
              <a:t>:</a:t>
            </a:r>
            <a:endParaRPr lang="en-US" sz="2000" b="1" spc="-50" dirty="0">
              <a:solidFill>
                <a:srgbClr val="1F487C"/>
              </a:solidFill>
              <a:uFill>
                <a:solidFill>
                  <a:srgbClr val="1F487C"/>
                </a:solidFill>
              </a:uFill>
              <a:latin typeface="Calibri"/>
              <a:cs typeface="Calibri"/>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When the ground is stable, sensor nodes run in </a:t>
            </a:r>
            <a:r>
              <a:rPr lang="en-IN" sz="1600" b="1" dirty="0">
                <a:latin typeface="Times New Roman" panose="02020603050405020304" pitchFamily="18" charset="0"/>
                <a:cs typeface="Times New Roman" panose="02020603050405020304" pitchFamily="18" charset="0"/>
              </a:rPr>
              <a:t>low-power SAFE mode</a:t>
            </a:r>
            <a:r>
              <a:rPr lang="en-IN" sz="160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When deformation begins, the system detects </a:t>
            </a:r>
            <a:r>
              <a:rPr lang="en-IN" sz="1600" b="1" dirty="0">
                <a:latin typeface="Times New Roman" panose="02020603050405020304" pitchFamily="18" charset="0"/>
                <a:cs typeface="Times New Roman" panose="02020603050405020304" pitchFamily="18" charset="0"/>
              </a:rPr>
              <a:t>tilt, vibration, displacement, crack initiation and water accumulation</a:t>
            </a:r>
            <a:r>
              <a:rPr lang="en-IN" sz="160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AI-based trend analysis and </a:t>
            </a:r>
            <a:r>
              <a:rPr lang="en-IN" sz="1600" b="1" dirty="0">
                <a:latin typeface="Times New Roman" panose="02020603050405020304" pitchFamily="18" charset="0"/>
                <a:cs typeface="Times New Roman" panose="02020603050405020304" pitchFamily="18" charset="0"/>
              </a:rPr>
              <a:t>neighbouring-node correlation</a:t>
            </a:r>
            <a:r>
              <a:rPr lang="en-IN" sz="1600" dirty="0">
                <a:latin typeface="Times New Roman" panose="02020603050405020304" pitchFamily="18" charset="0"/>
                <a:cs typeface="Times New Roman" panose="02020603050405020304" pitchFamily="18" charset="0"/>
              </a:rPr>
              <a:t> identify whether the movement is isolated noise or an expanding risk zone.</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The dashboard displays a live </a:t>
            </a:r>
            <a:r>
              <a:rPr lang="en-IN" sz="1600" b="1" dirty="0">
                <a:latin typeface="Times New Roman" panose="02020603050405020304" pitchFamily="18" charset="0"/>
                <a:cs typeface="Times New Roman" panose="02020603050405020304" pitchFamily="18" charset="0"/>
              </a:rPr>
              <a:t>GIS heatmap, 3D deformation digital twin, risk severity and mesh-health status</a:t>
            </a:r>
            <a:r>
              <a:rPr lang="en-IN" sz="16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Affected workers receive </a:t>
            </a:r>
            <a:r>
              <a:rPr lang="en-IN" sz="1500" b="1" dirty="0">
                <a:latin typeface="Times New Roman" panose="02020603050405020304" pitchFamily="18" charset="0"/>
                <a:cs typeface="Times New Roman" panose="02020603050405020304" pitchFamily="18" charset="0"/>
              </a:rPr>
              <a:t>LoRa buzzer and LED alerts</a:t>
            </a:r>
            <a:r>
              <a:rPr lang="en-IN" sz="15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with a safer exit recommendation and SMS and alert is sent in app</a:t>
            </a:r>
          </a:p>
          <a:p>
            <a:pPr marL="121920">
              <a:lnSpc>
                <a:spcPct val="100000"/>
              </a:lnSpc>
              <a:spcBef>
                <a:spcPts val="565"/>
              </a:spcBef>
            </a:pPr>
            <a:endParaRPr sz="2000" dirty="0">
              <a:latin typeface="Calibri"/>
              <a:cs typeface="Calibri"/>
            </a:endParaRPr>
          </a:p>
        </p:txBody>
      </p:sp>
      <p:sp>
        <p:nvSpPr>
          <p:cNvPr id="14" name="object 14"/>
          <p:cNvSpPr txBox="1"/>
          <p:nvPr/>
        </p:nvSpPr>
        <p:spPr>
          <a:xfrm>
            <a:off x="8225155" y="2661667"/>
            <a:ext cx="3966845" cy="3981218"/>
          </a:xfrm>
          <a:prstGeom prst="rect">
            <a:avLst/>
          </a:prstGeom>
        </p:spPr>
        <p:txBody>
          <a:bodyPr vert="horz" wrap="square" lIns="0" tIns="13335" rIns="0" bIns="0" rtlCol="0">
            <a:spAutoFit/>
          </a:bodyPr>
          <a:lstStyle/>
          <a:p>
            <a:pPr lvl="0"/>
            <a:r>
              <a:rPr lang="en-IN" sz="1500" b="1" dirty="0">
                <a:latin typeface="Times New Roman" panose="02020603050405020304" pitchFamily="18" charset="0"/>
                <a:cs typeface="Times New Roman" panose="02020603050405020304" pitchFamily="18" charset="0"/>
              </a:rPr>
              <a:t>From Point Sensors to Spatial Risk:</a:t>
            </a:r>
            <a:r>
              <a:rPr lang="en-IN" sz="1500" dirty="0">
                <a:latin typeface="Times New Roman" panose="02020603050405020304" pitchFamily="18" charset="0"/>
                <a:cs typeface="Times New Roman" panose="02020603050405020304" pitchFamily="18" charset="0"/>
              </a:rPr>
              <a:t> Converts individual deformation readings into an evolving subsidence-risk zone.</a:t>
            </a:r>
          </a:p>
          <a:p>
            <a:pPr lvl="0"/>
            <a:r>
              <a:rPr lang="en-IN" sz="1500" b="1" dirty="0">
                <a:latin typeface="Times New Roman" panose="02020603050405020304" pitchFamily="18" charset="0"/>
                <a:cs typeface="Times New Roman" panose="02020603050405020304" pitchFamily="18" charset="0"/>
              </a:rPr>
              <a:t>From Dashboard Alarm to Physical Worker Warning:</a:t>
            </a:r>
            <a:r>
              <a:rPr lang="en-IN" sz="1500" dirty="0">
                <a:latin typeface="Times New Roman" panose="02020603050405020304" pitchFamily="18" charset="0"/>
                <a:cs typeface="Times New Roman" panose="02020603050405020304" pitchFamily="18" charset="0"/>
              </a:rPr>
              <a:t> Sends real LoRa buzzer and LED alerts to workers near the affected zone.</a:t>
            </a:r>
          </a:p>
          <a:p>
            <a:pPr lvl="0"/>
            <a:r>
              <a:rPr lang="en-IN" sz="1500" b="1" dirty="0">
                <a:latin typeface="Times New Roman" panose="02020603050405020304" pitchFamily="18" charset="0"/>
                <a:cs typeface="Times New Roman" panose="02020603050405020304" pitchFamily="18" charset="0"/>
              </a:rPr>
              <a:t>AI-Driven Progressive Risk Detection:</a:t>
            </a:r>
            <a:r>
              <a:rPr lang="en-IN" sz="1500" dirty="0">
                <a:latin typeface="Times New Roman" panose="02020603050405020304" pitchFamily="18" charset="0"/>
                <a:cs typeface="Times New Roman" panose="02020603050405020304" pitchFamily="18" charset="0"/>
              </a:rPr>
              <a:t> Tracks deformation trend, rate, acceleration and neighbouring sensor agreement.</a:t>
            </a:r>
          </a:p>
          <a:p>
            <a:pPr lvl="0"/>
            <a:r>
              <a:rPr lang="en-IN" sz="1500" b="1" dirty="0">
                <a:latin typeface="Times New Roman" panose="02020603050405020304" pitchFamily="18" charset="0"/>
                <a:cs typeface="Times New Roman" panose="02020603050405020304" pitchFamily="18" charset="0"/>
              </a:rPr>
              <a:t>3D Digital Twin + GIS:</a:t>
            </a:r>
            <a:r>
              <a:rPr lang="en-IN" sz="1500" dirty="0">
                <a:latin typeface="Times New Roman" panose="02020603050405020304" pitchFamily="18" charset="0"/>
                <a:cs typeface="Times New Roman" panose="02020603050405020304" pitchFamily="18" charset="0"/>
              </a:rPr>
              <a:t> Shows both the location of risk and the physical change in terrain over time.</a:t>
            </a:r>
          </a:p>
          <a:p>
            <a:pPr lvl="0"/>
            <a:r>
              <a:rPr lang="en-IN" sz="1500" b="1" dirty="0">
                <a:latin typeface="Times New Roman" panose="02020603050405020304" pitchFamily="18" charset="0"/>
                <a:cs typeface="Times New Roman" panose="02020603050405020304" pitchFamily="18" charset="0"/>
              </a:rPr>
              <a:t>Water-Aware Safe Routing:</a:t>
            </a:r>
            <a:r>
              <a:rPr lang="en-IN" sz="1500" dirty="0">
                <a:latin typeface="Times New Roman" panose="02020603050405020304" pitchFamily="18" charset="0"/>
                <a:cs typeface="Times New Roman" panose="02020603050405020304" pitchFamily="18" charset="0"/>
              </a:rPr>
              <a:t> Avoids crack zones, deformation zones, low-elevation water pockets and weak communication paths.</a:t>
            </a:r>
          </a:p>
          <a:p>
            <a:pPr lvl="0"/>
            <a:r>
              <a:rPr lang="en-IN" sz="1500" b="1" dirty="0">
                <a:latin typeface="Times New Roman" panose="02020603050405020304" pitchFamily="18" charset="0"/>
                <a:cs typeface="Times New Roman" panose="02020603050405020304" pitchFamily="18" charset="0"/>
              </a:rPr>
              <a:t>Hysteresis-Based Recovery:</a:t>
            </a:r>
            <a:r>
              <a:rPr lang="en-IN" sz="1500" dirty="0">
                <a:latin typeface="Times New Roman" panose="02020603050405020304" pitchFamily="18" charset="0"/>
                <a:cs typeface="Times New Roman" panose="02020603050405020304" pitchFamily="18" charset="0"/>
              </a:rPr>
              <a:t> Prevents unsafe instant “all-clear” after one normal sensor reading</a:t>
            </a:r>
            <a:r>
              <a:rPr lang="en-IN" sz="1400" dirty="0">
                <a:latin typeface="Times New Roman" panose="02020603050405020304" pitchFamily="18" charset="0"/>
                <a:cs typeface="Times New Roman" panose="02020603050405020304" pitchFamily="18" charset="0"/>
              </a:rPr>
              <a:t>.</a:t>
            </a:r>
          </a:p>
          <a:p>
            <a:pPr marL="299085" marR="857885" indent="-287020" algn="just">
              <a:lnSpc>
                <a:spcPct val="100000"/>
              </a:lnSpc>
              <a:spcBef>
                <a:spcPts val="105"/>
              </a:spcBef>
              <a:buFont typeface="Arial MT"/>
              <a:buChar char="•"/>
              <a:tabLst>
                <a:tab pos="299085" algn="l"/>
              </a:tabLst>
            </a:pPr>
            <a:endParaRPr sz="1700" dirty="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63500">
              <a:lnSpc>
                <a:spcPts val="1240"/>
              </a:lnSpc>
            </a:pPr>
            <a:fld id="{81D60167-4931-47E6-BA6A-407CBD079E47}" type="slidenum">
              <a:rPr spc="-50" dirty="0"/>
              <a:t>2</a:t>
            </a:fld>
            <a:endParaRPr spc="-50" dirty="0"/>
          </a:p>
        </p:txBody>
      </p:sp>
      <p:cxnSp>
        <p:nvCxnSpPr>
          <p:cNvPr id="18" name="Straight Connector 17">
            <a:extLst>
              <a:ext uri="{FF2B5EF4-FFF2-40B4-BE49-F238E27FC236}">
                <a16:creationId xmlns:a16="http://schemas.microsoft.com/office/drawing/2014/main" id="{D08D892E-78B5-C088-3458-125CF7FEB59A}"/>
              </a:ext>
            </a:extLst>
          </p:cNvPr>
          <p:cNvCxnSpPr/>
          <p:nvPr/>
        </p:nvCxnSpPr>
        <p:spPr>
          <a:xfrm flipV="1">
            <a:off x="0" y="2324238"/>
            <a:ext cx="12192000" cy="5179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5964347-E15E-AD59-B4E5-92D5FDE0890E}"/>
              </a:ext>
            </a:extLst>
          </p:cNvPr>
          <p:cNvCxnSpPr>
            <a:cxnSpLocks/>
          </p:cNvCxnSpPr>
          <p:nvPr/>
        </p:nvCxnSpPr>
        <p:spPr>
          <a:xfrm flipH="1">
            <a:off x="0" y="760540"/>
            <a:ext cx="12192000" cy="5911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721A41-95C4-7A63-ADF6-C04076E78BC6}"/>
              </a:ext>
            </a:extLst>
          </p:cNvPr>
          <p:cNvCxnSpPr/>
          <p:nvPr/>
        </p:nvCxnSpPr>
        <p:spPr>
          <a:xfrm>
            <a:off x="5791200" y="776980"/>
            <a:ext cx="0" cy="1563698"/>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E1633E1C-C49B-5E1D-6508-A7CC2D3D2F5F}"/>
              </a:ext>
            </a:extLst>
          </p:cNvPr>
          <p:cNvPicPr>
            <a:picLocks noChangeAspect="1"/>
          </p:cNvPicPr>
          <p:nvPr/>
        </p:nvPicPr>
        <p:blipFill>
          <a:blip r:embed="rId3"/>
          <a:stretch>
            <a:fillRect/>
          </a:stretch>
        </p:blipFill>
        <p:spPr>
          <a:xfrm>
            <a:off x="4133221" y="2460073"/>
            <a:ext cx="3966845" cy="3665002"/>
          </a:xfrm>
          <a:prstGeom prst="rect">
            <a:avLst/>
          </a:prstGeom>
        </p:spPr>
      </p:pic>
      <p:pic>
        <p:nvPicPr>
          <p:cNvPr id="7" name="Picture 6">
            <a:extLst>
              <a:ext uri="{FF2B5EF4-FFF2-40B4-BE49-F238E27FC236}">
                <a16:creationId xmlns:a16="http://schemas.microsoft.com/office/drawing/2014/main" id="{38C64918-CB57-6028-4102-9855957A22B9}"/>
              </a:ext>
            </a:extLst>
          </p:cNvPr>
          <p:cNvPicPr>
            <a:picLocks noChangeAspect="1"/>
          </p:cNvPicPr>
          <p:nvPr/>
        </p:nvPicPr>
        <p:blipFill>
          <a:blip r:embed="rId4"/>
          <a:stretch>
            <a:fillRect/>
          </a:stretch>
        </p:blipFill>
        <p:spPr>
          <a:xfrm>
            <a:off x="10629791" y="7783"/>
            <a:ext cx="1562209" cy="7479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34490"/>
            <a:ext cx="12192001" cy="6823827"/>
            <a:chOff x="0" y="34490"/>
            <a:chExt cx="12192001" cy="6823827"/>
          </a:xfrm>
        </p:grpSpPr>
        <p:pic>
          <p:nvPicPr>
            <p:cNvPr id="3" name="object 3"/>
            <p:cNvPicPr/>
            <p:nvPr/>
          </p:nvPicPr>
          <p:blipFill>
            <a:blip r:embed="rId2" cstate="print"/>
            <a:stretch>
              <a:fillRect/>
            </a:stretch>
          </p:blipFill>
          <p:spPr>
            <a:xfrm>
              <a:off x="0" y="6376421"/>
              <a:ext cx="12189714" cy="479285"/>
            </a:xfrm>
            <a:prstGeom prst="rect">
              <a:avLst/>
            </a:prstGeom>
          </p:spPr>
        </p:pic>
        <p:sp>
          <p:nvSpPr>
            <p:cNvPr id="4" name="object 4"/>
            <p:cNvSpPr/>
            <p:nvPr/>
          </p:nvSpPr>
          <p:spPr>
            <a:xfrm>
              <a:off x="1" y="6354762"/>
              <a:ext cx="12192000" cy="503555"/>
            </a:xfrm>
            <a:custGeom>
              <a:avLst/>
              <a:gdLst/>
              <a:ahLst/>
              <a:cxnLst/>
              <a:rect l="l" t="t" r="r" b="b"/>
              <a:pathLst>
                <a:path w="12192000" h="503554">
                  <a:moveTo>
                    <a:pt x="12192000" y="0"/>
                  </a:moveTo>
                  <a:lnTo>
                    <a:pt x="0" y="0"/>
                  </a:lnTo>
                  <a:lnTo>
                    <a:pt x="0" y="503237"/>
                  </a:lnTo>
                  <a:lnTo>
                    <a:pt x="12192000" y="503237"/>
                  </a:lnTo>
                  <a:lnTo>
                    <a:pt x="12192000" y="0"/>
                  </a:lnTo>
                  <a:close/>
                </a:path>
              </a:pathLst>
            </a:custGeom>
            <a:solidFill>
              <a:srgbClr val="006FC0"/>
            </a:solidFill>
          </p:spPr>
          <p:txBody>
            <a:bodyPr wrap="square" lIns="0" tIns="0" rIns="0" bIns="0" rtlCol="0"/>
            <a:lstStyle/>
            <a:p>
              <a:endParaRPr dirty="0"/>
            </a:p>
          </p:txBody>
        </p:sp>
        <p:pic>
          <p:nvPicPr>
            <p:cNvPr id="5" name="object 5" descr="https://www.sih.gov.in/img1/SIH-Logo.png"/>
            <p:cNvPicPr/>
            <p:nvPr/>
          </p:nvPicPr>
          <p:blipFill>
            <a:blip r:embed="rId3" cstate="print"/>
            <a:stretch>
              <a:fillRect/>
            </a:stretch>
          </p:blipFill>
          <p:spPr>
            <a:xfrm>
              <a:off x="10813896" y="34490"/>
              <a:ext cx="1222770" cy="566476"/>
            </a:xfrm>
            <a:prstGeom prst="rect">
              <a:avLst/>
            </a:prstGeom>
          </p:spPr>
        </p:pic>
        <p:pic>
          <p:nvPicPr>
            <p:cNvPr id="6" name="object 6"/>
            <p:cNvPicPr/>
            <p:nvPr/>
          </p:nvPicPr>
          <p:blipFill>
            <a:blip r:embed="rId4" cstate="print"/>
            <a:stretch>
              <a:fillRect/>
            </a:stretch>
          </p:blipFill>
          <p:spPr>
            <a:xfrm>
              <a:off x="0" y="609219"/>
              <a:ext cx="12192000" cy="87629"/>
            </a:xfrm>
            <a:prstGeom prst="rect">
              <a:avLst/>
            </a:prstGeom>
          </p:spPr>
        </p:pic>
        <p:sp>
          <p:nvSpPr>
            <p:cNvPr id="7" name="object 7"/>
            <p:cNvSpPr/>
            <p:nvPr/>
          </p:nvSpPr>
          <p:spPr>
            <a:xfrm>
              <a:off x="0" y="635508"/>
              <a:ext cx="12192000" cy="0"/>
            </a:xfrm>
            <a:custGeom>
              <a:avLst/>
              <a:gdLst/>
              <a:ahLst/>
              <a:cxnLst/>
              <a:rect l="l" t="t" r="r" b="b"/>
              <a:pathLst>
                <a:path w="12192000">
                  <a:moveTo>
                    <a:pt x="0" y="0"/>
                  </a:moveTo>
                  <a:lnTo>
                    <a:pt x="12192000" y="0"/>
                  </a:lnTo>
                </a:path>
              </a:pathLst>
            </a:custGeom>
            <a:ln w="25400">
              <a:solidFill>
                <a:srgbClr val="4F81BC"/>
              </a:solidFill>
            </a:ln>
          </p:spPr>
          <p:txBody>
            <a:bodyPr wrap="square" lIns="0" tIns="0" rIns="0" bIns="0" rtlCol="0"/>
            <a:lstStyle/>
            <a:p>
              <a:endParaRPr dirty="0"/>
            </a:p>
          </p:txBody>
        </p:sp>
        <p:pic>
          <p:nvPicPr>
            <p:cNvPr id="9" name="object 9"/>
            <p:cNvPicPr/>
            <p:nvPr/>
          </p:nvPicPr>
          <p:blipFill>
            <a:blip r:embed="rId5" cstate="print"/>
            <a:stretch>
              <a:fillRect/>
            </a:stretch>
          </p:blipFill>
          <p:spPr>
            <a:xfrm>
              <a:off x="7513304" y="4742670"/>
              <a:ext cx="4582698" cy="1551467"/>
            </a:xfrm>
            <a:prstGeom prst="rect">
              <a:avLst/>
            </a:prstGeom>
          </p:spPr>
        </p:pic>
        <p:pic>
          <p:nvPicPr>
            <p:cNvPr id="10" name="object 10"/>
            <p:cNvPicPr/>
            <p:nvPr/>
          </p:nvPicPr>
          <p:blipFill>
            <a:blip r:embed="rId6" cstate="print"/>
            <a:stretch>
              <a:fillRect/>
            </a:stretch>
          </p:blipFill>
          <p:spPr>
            <a:xfrm>
              <a:off x="3680840" y="758190"/>
              <a:ext cx="8344027" cy="3999991"/>
            </a:xfrm>
            <a:prstGeom prst="rect">
              <a:avLst/>
            </a:prstGeom>
          </p:spPr>
        </p:pic>
      </p:grpSp>
      <p:sp>
        <p:nvSpPr>
          <p:cNvPr id="12" name="object 12" descr="$PPTXTitle"/>
          <p:cNvSpPr txBox="1">
            <a:spLocks noGrp="1"/>
          </p:cNvSpPr>
          <p:nvPr>
            <p:ph type="title"/>
          </p:nvPr>
        </p:nvSpPr>
        <p:spPr>
          <a:xfrm>
            <a:off x="3978402" y="21158"/>
            <a:ext cx="4237355" cy="452120"/>
          </a:xfrm>
          <a:prstGeom prst="rect">
            <a:avLst/>
          </a:prstGeom>
        </p:spPr>
        <p:txBody>
          <a:bodyPr vert="horz" wrap="square" lIns="0" tIns="12065" rIns="0" bIns="0" rtlCol="0">
            <a:spAutoFit/>
          </a:bodyPr>
          <a:lstStyle/>
          <a:p>
            <a:pPr marL="12700">
              <a:lnSpc>
                <a:spcPct val="100000"/>
              </a:lnSpc>
              <a:spcBef>
                <a:spcPts val="95"/>
              </a:spcBef>
            </a:pPr>
            <a:r>
              <a:rPr spc="-25" dirty="0"/>
              <a:t>TECHNICAL</a:t>
            </a:r>
            <a:r>
              <a:rPr spc="-220" dirty="0"/>
              <a:t> </a:t>
            </a:r>
            <a:r>
              <a:rPr spc="-10" dirty="0"/>
              <a:t>APPROACH</a:t>
            </a:r>
          </a:p>
        </p:txBody>
      </p:sp>
      <p:sp>
        <p:nvSpPr>
          <p:cNvPr id="37" name="object 37"/>
          <p:cNvSpPr txBox="1"/>
          <p:nvPr/>
        </p:nvSpPr>
        <p:spPr>
          <a:xfrm>
            <a:off x="78738" y="706704"/>
            <a:ext cx="2283461" cy="259045"/>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a:cs typeface="Times New Roman"/>
              </a:rPr>
              <a:t>Hardware</a:t>
            </a:r>
            <a:r>
              <a:rPr sz="1600" b="1" spc="-60" dirty="0">
                <a:latin typeface="Times New Roman"/>
                <a:cs typeface="Times New Roman"/>
              </a:rPr>
              <a:t> </a:t>
            </a:r>
            <a:r>
              <a:rPr sz="1600" b="1" dirty="0">
                <a:latin typeface="Times New Roman"/>
                <a:cs typeface="Times New Roman"/>
              </a:rPr>
              <a:t>&amp;</a:t>
            </a:r>
            <a:r>
              <a:rPr sz="1600" b="1" spc="-25" dirty="0">
                <a:latin typeface="Times New Roman"/>
                <a:cs typeface="Times New Roman"/>
              </a:rPr>
              <a:t> </a:t>
            </a:r>
            <a:r>
              <a:rPr sz="1600" b="1" spc="-10" dirty="0">
                <a:latin typeface="Times New Roman"/>
                <a:cs typeface="Times New Roman"/>
              </a:rPr>
              <a:t>Software</a:t>
            </a:r>
            <a:endParaRPr sz="1600" dirty="0">
              <a:latin typeface="Times New Roman"/>
              <a:cs typeface="Times New Roman"/>
            </a:endParaRPr>
          </a:p>
        </p:txBody>
      </p:sp>
      <p:sp>
        <p:nvSpPr>
          <p:cNvPr id="13" name="object 13"/>
          <p:cNvSpPr txBox="1"/>
          <p:nvPr/>
        </p:nvSpPr>
        <p:spPr>
          <a:xfrm>
            <a:off x="3600322" y="667336"/>
            <a:ext cx="2113154" cy="321242"/>
          </a:xfrm>
          <a:prstGeom prst="rect">
            <a:avLst/>
          </a:prstGeom>
        </p:spPr>
        <p:txBody>
          <a:bodyPr vert="horz" wrap="square" lIns="0" tIns="13335" rIns="0" bIns="0" rtlCol="0">
            <a:spAutoFit/>
          </a:bodyPr>
          <a:lstStyle/>
          <a:p>
            <a:pPr marL="12700">
              <a:lnSpc>
                <a:spcPct val="100000"/>
              </a:lnSpc>
              <a:spcBef>
                <a:spcPts val="105"/>
              </a:spcBef>
            </a:pPr>
            <a:r>
              <a:rPr lang="en-US" sz="2000" b="1" dirty="0">
                <a:solidFill>
                  <a:schemeClr val="tx2"/>
                </a:solidFill>
                <a:latin typeface="Calibri"/>
                <a:cs typeface="Calibri"/>
              </a:rPr>
              <a:t>   ARCHITECTURE :</a:t>
            </a:r>
            <a:endParaRPr sz="2000" b="1" dirty="0">
              <a:solidFill>
                <a:schemeClr val="tx2"/>
              </a:solidFill>
              <a:latin typeface="Calibri"/>
              <a:cs typeface="Calibri"/>
            </a:endParaRPr>
          </a:p>
        </p:txBody>
      </p:sp>
      <p:sp>
        <p:nvSpPr>
          <p:cNvPr id="38" name="object 38"/>
          <p:cNvSpPr txBox="1"/>
          <p:nvPr/>
        </p:nvSpPr>
        <p:spPr>
          <a:xfrm>
            <a:off x="78739" y="953658"/>
            <a:ext cx="3335020" cy="5642570"/>
          </a:xfrm>
          <a:prstGeom prst="rect">
            <a:avLst/>
          </a:prstGeom>
        </p:spPr>
        <p:txBody>
          <a:bodyPr vert="horz" wrap="square" lIns="0" tIns="12700" rIns="0" bIns="0" rtlCol="0">
            <a:spAutoFit/>
          </a:bodyPr>
          <a:lstStyle/>
          <a:p>
            <a:pPr lvl="0"/>
            <a:r>
              <a:rPr lang="en-IN" sz="1400" b="1" dirty="0">
                <a:latin typeface="Times New Roman" panose="02020603050405020304" pitchFamily="18" charset="0"/>
                <a:cs typeface="Times New Roman" panose="02020603050405020304" pitchFamily="18" charset="0"/>
              </a:rPr>
              <a:t>ESP32 + LoRa Sensor Node:</a:t>
            </a:r>
            <a:r>
              <a:rPr lang="en-IN" sz="1400" dirty="0">
                <a:latin typeface="Times New Roman" panose="02020603050405020304" pitchFamily="18" charset="0"/>
                <a:cs typeface="Times New Roman" panose="02020603050405020304" pitchFamily="18" charset="0"/>
              </a:rPr>
              <a:t> Low-cost indigenous node for continuous surface deformation monitoring.</a:t>
            </a:r>
          </a:p>
          <a:p>
            <a:pPr lvl="0"/>
            <a:r>
              <a:rPr lang="en-IN" sz="1400" b="1" dirty="0">
                <a:latin typeface="Times New Roman" panose="02020603050405020304" pitchFamily="18" charset="0"/>
                <a:cs typeface="Times New Roman" panose="02020603050405020304" pitchFamily="18" charset="0"/>
              </a:rPr>
              <a:t>MPU6050 :</a:t>
            </a:r>
            <a:r>
              <a:rPr lang="en-IN" sz="1400" dirty="0">
                <a:latin typeface="Times New Roman" panose="02020603050405020304" pitchFamily="18" charset="0"/>
                <a:cs typeface="Times New Roman" panose="02020603050405020304" pitchFamily="18" charset="0"/>
              </a:rPr>
              <a:t> Measures tilt magnitude, direction and rate of change.</a:t>
            </a:r>
          </a:p>
          <a:p>
            <a:pPr lvl="0"/>
            <a:r>
              <a:rPr lang="en-IN" sz="1400" b="1" dirty="0">
                <a:latin typeface="Times New Roman" panose="02020603050405020304" pitchFamily="18" charset="0"/>
                <a:cs typeface="Times New Roman" panose="02020603050405020304" pitchFamily="18" charset="0"/>
              </a:rPr>
              <a:t>Accelerometer:</a:t>
            </a:r>
            <a:r>
              <a:rPr lang="en-IN" sz="1400" dirty="0">
                <a:latin typeface="Times New Roman" panose="02020603050405020304" pitchFamily="18" charset="0"/>
                <a:cs typeface="Times New Roman" panose="02020603050405020304" pitchFamily="18" charset="0"/>
              </a:rPr>
              <a:t> Detects vibration RMS, peak events and unusual ground activity.</a:t>
            </a:r>
          </a:p>
          <a:p>
            <a:pPr lvl="0"/>
            <a:r>
              <a:rPr lang="en-IN" sz="1400" b="1" dirty="0">
                <a:latin typeface="Times New Roman" panose="02020603050405020304" pitchFamily="18" charset="0"/>
                <a:cs typeface="Times New Roman" panose="02020603050405020304" pitchFamily="18" charset="0"/>
              </a:rPr>
              <a:t>Displacement Sensor:</a:t>
            </a:r>
            <a:r>
              <a:rPr lang="en-IN" sz="1400" dirty="0">
                <a:latin typeface="Times New Roman" panose="02020603050405020304" pitchFamily="18" charset="0"/>
                <a:cs typeface="Times New Roman" panose="02020603050405020304" pitchFamily="18" charset="0"/>
              </a:rPr>
              <a:t> Measures relative stretch or movement between anchored surface points.</a:t>
            </a:r>
          </a:p>
          <a:p>
            <a:pPr lvl="0"/>
            <a:r>
              <a:rPr lang="en-IN" sz="1400" b="1" dirty="0">
                <a:latin typeface="Times New Roman" panose="02020603050405020304" pitchFamily="18" charset="0"/>
                <a:cs typeface="Times New Roman" panose="02020603050405020304" pitchFamily="18" charset="0"/>
              </a:rPr>
              <a:t>Crack Strip Sensor:</a:t>
            </a:r>
            <a:r>
              <a:rPr lang="en-IN" sz="1400" dirty="0">
                <a:latin typeface="Times New Roman" panose="02020603050405020304" pitchFamily="18" charset="0"/>
                <a:cs typeface="Times New Roman" panose="02020603050405020304" pitchFamily="18" charset="0"/>
              </a:rPr>
              <a:t> Detects crack initiation or conductive-path break.</a:t>
            </a:r>
          </a:p>
          <a:p>
            <a:pPr lvl="0"/>
            <a:r>
              <a:rPr lang="en-IN" sz="1400" b="1" dirty="0">
                <a:latin typeface="Times New Roman" panose="02020603050405020304" pitchFamily="18" charset="0"/>
                <a:cs typeface="Times New Roman" panose="02020603050405020304" pitchFamily="18" charset="0"/>
              </a:rPr>
              <a:t>Moisture Sensor:</a:t>
            </a:r>
            <a:r>
              <a:rPr lang="en-IN" sz="1400" dirty="0">
                <a:latin typeface="Times New Roman" panose="02020603050405020304" pitchFamily="18" charset="0"/>
                <a:cs typeface="Times New Roman" panose="02020603050405020304" pitchFamily="18" charset="0"/>
              </a:rPr>
              <a:t> Detects water accumulation in low-elevation subsidence depressions.</a:t>
            </a:r>
          </a:p>
          <a:p>
            <a:pPr lvl="0"/>
            <a:r>
              <a:rPr lang="en-IN" sz="1400" b="1" dirty="0">
                <a:latin typeface="Times New Roman" panose="02020603050405020304" pitchFamily="18" charset="0"/>
                <a:cs typeface="Times New Roman" panose="02020603050405020304" pitchFamily="18" charset="0"/>
              </a:rPr>
              <a:t>LoRa Gateway:</a:t>
            </a:r>
            <a:r>
              <a:rPr lang="en-IN" sz="1400" dirty="0">
                <a:latin typeface="Times New Roman" panose="02020603050405020304" pitchFamily="18" charset="0"/>
                <a:cs typeface="Times New Roman" panose="02020603050405020304" pitchFamily="18" charset="0"/>
              </a:rPr>
              <a:t> Collects sensor data, stores events locally, runs risk logic and sends worker alerts.</a:t>
            </a:r>
          </a:p>
          <a:p>
            <a:pPr lvl="0"/>
            <a:r>
              <a:rPr lang="en-IN" sz="1400" b="1" dirty="0">
                <a:latin typeface="Times New Roman" panose="02020603050405020304" pitchFamily="18" charset="0"/>
                <a:cs typeface="Times New Roman" panose="02020603050405020304" pitchFamily="18" charset="0"/>
              </a:rPr>
              <a:t>Worker Safety Tag:</a:t>
            </a:r>
            <a:r>
              <a:rPr lang="en-IN" sz="1400" dirty="0">
                <a:latin typeface="Times New Roman" panose="02020603050405020304" pitchFamily="18" charset="0"/>
                <a:cs typeface="Times New Roman" panose="02020603050405020304" pitchFamily="18" charset="0"/>
              </a:rPr>
              <a:t> LoRa-enabled buzzer, LED warning and SOS button.</a:t>
            </a:r>
          </a:p>
          <a:p>
            <a:pPr lvl="0"/>
            <a:r>
              <a:rPr lang="en-IN" sz="1400" b="1" dirty="0">
                <a:latin typeface="Times New Roman" panose="02020603050405020304" pitchFamily="18" charset="0"/>
                <a:cs typeface="Times New Roman" panose="02020603050405020304" pitchFamily="18" charset="0"/>
              </a:rPr>
              <a:t>Web Dashboard:</a:t>
            </a:r>
            <a:r>
              <a:rPr lang="en-IN" sz="1400" dirty="0">
                <a:latin typeface="Times New Roman" panose="02020603050405020304" pitchFamily="18" charset="0"/>
                <a:cs typeface="Times New Roman" panose="02020603050405020304" pitchFamily="18" charset="0"/>
              </a:rPr>
              <a:t> Live GIS map, 3D deformation twin, sensor trends, mesh health and safe exit route.</a:t>
            </a:r>
          </a:p>
          <a:p>
            <a:pPr lvl="0"/>
            <a:r>
              <a:rPr lang="en-IN" sz="1400" b="1" dirty="0">
                <a:latin typeface="Times New Roman" panose="02020603050405020304" pitchFamily="18" charset="0"/>
                <a:cs typeface="Times New Roman" panose="02020603050405020304" pitchFamily="18" charset="0"/>
              </a:rPr>
              <a:t>Edge AI Engine:</a:t>
            </a:r>
            <a:r>
              <a:rPr lang="en-IN" sz="1400" dirty="0">
                <a:latin typeface="Times New Roman" panose="02020603050405020304" pitchFamily="18" charset="0"/>
                <a:cs typeface="Times New Roman" panose="02020603050405020304" pitchFamily="18" charset="0"/>
              </a:rPr>
              <a:t> Performs anomaly detection, temporal trend analysis, spatial correlation and explainable risk scoring.</a:t>
            </a:r>
          </a:p>
          <a:p>
            <a:pPr marL="299085" marR="30480" indent="-287020">
              <a:lnSpc>
                <a:spcPct val="100000"/>
              </a:lnSpc>
              <a:spcBef>
                <a:spcPts val="100"/>
              </a:spcBef>
              <a:buFont typeface="Arial MT"/>
              <a:buChar char="•"/>
              <a:tabLst>
                <a:tab pos="299085" algn="l"/>
              </a:tabLst>
            </a:pPr>
            <a:endParaRPr sz="1500" dirty="0">
              <a:latin typeface="Times New Roman"/>
              <a:cs typeface="Times New Roman"/>
            </a:endParaRPr>
          </a:p>
        </p:txBody>
      </p:sp>
      <p:grpSp>
        <p:nvGrpSpPr>
          <p:cNvPr id="14" name="object 14"/>
          <p:cNvGrpSpPr/>
          <p:nvPr/>
        </p:nvGrpSpPr>
        <p:grpSpPr>
          <a:xfrm>
            <a:off x="3825198" y="5017528"/>
            <a:ext cx="2563495" cy="1267460"/>
            <a:chOff x="3825198" y="5017528"/>
            <a:chExt cx="2563495" cy="1267460"/>
          </a:xfrm>
        </p:grpSpPr>
        <p:pic>
          <p:nvPicPr>
            <p:cNvPr id="15" name="object 15"/>
            <p:cNvPicPr/>
            <p:nvPr/>
          </p:nvPicPr>
          <p:blipFill>
            <a:blip r:embed="rId7" cstate="print"/>
            <a:stretch>
              <a:fillRect/>
            </a:stretch>
          </p:blipFill>
          <p:spPr>
            <a:xfrm>
              <a:off x="3825198" y="5227269"/>
              <a:ext cx="1647527" cy="809344"/>
            </a:xfrm>
            <a:prstGeom prst="rect">
              <a:avLst/>
            </a:prstGeom>
          </p:spPr>
        </p:pic>
        <p:sp>
          <p:nvSpPr>
            <p:cNvPr id="16" name="object 16"/>
            <p:cNvSpPr/>
            <p:nvPr/>
          </p:nvSpPr>
          <p:spPr>
            <a:xfrm>
              <a:off x="3864228" y="5242559"/>
              <a:ext cx="1574800" cy="737235"/>
            </a:xfrm>
            <a:custGeom>
              <a:avLst/>
              <a:gdLst/>
              <a:ahLst/>
              <a:cxnLst/>
              <a:rect l="l" t="t" r="r" b="b"/>
              <a:pathLst>
                <a:path w="1574800" h="737235">
                  <a:moveTo>
                    <a:pt x="1574673" y="0"/>
                  </a:moveTo>
                  <a:lnTo>
                    <a:pt x="0" y="0"/>
                  </a:lnTo>
                  <a:lnTo>
                    <a:pt x="0" y="736663"/>
                  </a:lnTo>
                  <a:lnTo>
                    <a:pt x="1574673" y="736663"/>
                  </a:lnTo>
                  <a:lnTo>
                    <a:pt x="1574673" y="0"/>
                  </a:lnTo>
                  <a:close/>
                </a:path>
              </a:pathLst>
            </a:custGeom>
            <a:solidFill>
              <a:srgbClr val="49452A"/>
            </a:solidFill>
          </p:spPr>
          <p:txBody>
            <a:bodyPr wrap="square" lIns="0" tIns="0" rIns="0" bIns="0" rtlCol="0"/>
            <a:lstStyle/>
            <a:p>
              <a:endParaRPr dirty="0"/>
            </a:p>
          </p:txBody>
        </p:sp>
        <p:sp>
          <p:nvSpPr>
            <p:cNvPr id="17" name="object 17"/>
            <p:cNvSpPr/>
            <p:nvPr/>
          </p:nvSpPr>
          <p:spPr>
            <a:xfrm>
              <a:off x="3864228" y="5242559"/>
              <a:ext cx="1574800" cy="737235"/>
            </a:xfrm>
            <a:custGeom>
              <a:avLst/>
              <a:gdLst/>
              <a:ahLst/>
              <a:cxnLst/>
              <a:rect l="l" t="t" r="r" b="b"/>
              <a:pathLst>
                <a:path w="1574800" h="737235">
                  <a:moveTo>
                    <a:pt x="0" y="736663"/>
                  </a:moveTo>
                  <a:lnTo>
                    <a:pt x="1574673" y="736663"/>
                  </a:lnTo>
                  <a:lnTo>
                    <a:pt x="1574673" y="0"/>
                  </a:lnTo>
                  <a:lnTo>
                    <a:pt x="0" y="0"/>
                  </a:lnTo>
                  <a:lnTo>
                    <a:pt x="0" y="736663"/>
                  </a:lnTo>
                  <a:close/>
                </a:path>
              </a:pathLst>
            </a:custGeom>
            <a:ln w="9525">
              <a:solidFill>
                <a:srgbClr val="49452A"/>
              </a:solidFill>
            </a:ln>
          </p:spPr>
          <p:txBody>
            <a:bodyPr wrap="square" lIns="0" tIns="0" rIns="0" bIns="0" rtlCol="0"/>
            <a:lstStyle/>
            <a:p>
              <a:endParaRPr dirty="0"/>
            </a:p>
          </p:txBody>
        </p:sp>
        <p:pic>
          <p:nvPicPr>
            <p:cNvPr id="18" name="object 18"/>
            <p:cNvPicPr/>
            <p:nvPr/>
          </p:nvPicPr>
          <p:blipFill>
            <a:blip r:embed="rId8" cstate="print"/>
            <a:stretch>
              <a:fillRect/>
            </a:stretch>
          </p:blipFill>
          <p:spPr>
            <a:xfrm>
              <a:off x="3983735" y="5335523"/>
              <a:ext cx="1664208" cy="827532"/>
            </a:xfrm>
            <a:prstGeom prst="rect">
              <a:avLst/>
            </a:prstGeom>
          </p:spPr>
        </p:pic>
        <p:sp>
          <p:nvSpPr>
            <p:cNvPr id="19" name="object 19"/>
            <p:cNvSpPr/>
            <p:nvPr/>
          </p:nvSpPr>
          <p:spPr>
            <a:xfrm>
              <a:off x="4031233" y="5360263"/>
              <a:ext cx="1574800" cy="737235"/>
            </a:xfrm>
            <a:custGeom>
              <a:avLst/>
              <a:gdLst/>
              <a:ahLst/>
              <a:cxnLst/>
              <a:rect l="l" t="t" r="r" b="b"/>
              <a:pathLst>
                <a:path w="1574800" h="737235">
                  <a:moveTo>
                    <a:pt x="1574673" y="0"/>
                  </a:moveTo>
                  <a:lnTo>
                    <a:pt x="0" y="0"/>
                  </a:lnTo>
                  <a:lnTo>
                    <a:pt x="0" y="736663"/>
                  </a:lnTo>
                  <a:lnTo>
                    <a:pt x="1574673" y="736663"/>
                  </a:lnTo>
                  <a:lnTo>
                    <a:pt x="1574673" y="0"/>
                  </a:lnTo>
                  <a:close/>
                </a:path>
              </a:pathLst>
            </a:custGeom>
            <a:solidFill>
              <a:srgbClr val="943735"/>
            </a:solidFill>
          </p:spPr>
          <p:txBody>
            <a:bodyPr wrap="square" lIns="0" tIns="0" rIns="0" bIns="0" rtlCol="0"/>
            <a:lstStyle/>
            <a:p>
              <a:endParaRPr dirty="0"/>
            </a:p>
          </p:txBody>
        </p:sp>
        <p:sp>
          <p:nvSpPr>
            <p:cNvPr id="20" name="object 20"/>
            <p:cNvSpPr/>
            <p:nvPr/>
          </p:nvSpPr>
          <p:spPr>
            <a:xfrm>
              <a:off x="4031233" y="5360263"/>
              <a:ext cx="1574800" cy="737235"/>
            </a:xfrm>
            <a:custGeom>
              <a:avLst/>
              <a:gdLst/>
              <a:ahLst/>
              <a:cxnLst/>
              <a:rect l="l" t="t" r="r" b="b"/>
              <a:pathLst>
                <a:path w="1574800" h="737235">
                  <a:moveTo>
                    <a:pt x="0" y="736663"/>
                  </a:moveTo>
                  <a:lnTo>
                    <a:pt x="1574673" y="736663"/>
                  </a:lnTo>
                  <a:lnTo>
                    <a:pt x="1574673" y="0"/>
                  </a:lnTo>
                  <a:lnTo>
                    <a:pt x="0" y="0"/>
                  </a:lnTo>
                  <a:lnTo>
                    <a:pt x="0" y="736663"/>
                  </a:lnTo>
                  <a:close/>
                </a:path>
              </a:pathLst>
            </a:custGeom>
            <a:ln w="9525">
              <a:solidFill>
                <a:srgbClr val="943735"/>
              </a:solidFill>
            </a:ln>
          </p:spPr>
          <p:txBody>
            <a:bodyPr wrap="square" lIns="0" tIns="0" rIns="0" bIns="0" rtlCol="0"/>
            <a:lstStyle/>
            <a:p>
              <a:endParaRPr dirty="0"/>
            </a:p>
          </p:txBody>
        </p:sp>
        <p:pic>
          <p:nvPicPr>
            <p:cNvPr id="21" name="object 21"/>
            <p:cNvPicPr/>
            <p:nvPr/>
          </p:nvPicPr>
          <p:blipFill>
            <a:blip r:embed="rId9" cstate="print"/>
            <a:stretch>
              <a:fillRect/>
            </a:stretch>
          </p:blipFill>
          <p:spPr>
            <a:xfrm>
              <a:off x="4134611" y="5458967"/>
              <a:ext cx="1664208" cy="826020"/>
            </a:xfrm>
            <a:prstGeom prst="rect">
              <a:avLst/>
            </a:prstGeom>
          </p:spPr>
        </p:pic>
        <p:sp>
          <p:nvSpPr>
            <p:cNvPr id="22" name="object 22"/>
            <p:cNvSpPr/>
            <p:nvPr/>
          </p:nvSpPr>
          <p:spPr>
            <a:xfrm>
              <a:off x="4181982" y="5486171"/>
              <a:ext cx="1574800" cy="737235"/>
            </a:xfrm>
            <a:custGeom>
              <a:avLst/>
              <a:gdLst/>
              <a:ahLst/>
              <a:cxnLst/>
              <a:rect l="l" t="t" r="r" b="b"/>
              <a:pathLst>
                <a:path w="1574800" h="737235">
                  <a:moveTo>
                    <a:pt x="1574673" y="0"/>
                  </a:moveTo>
                  <a:lnTo>
                    <a:pt x="0" y="0"/>
                  </a:lnTo>
                  <a:lnTo>
                    <a:pt x="0" y="736663"/>
                  </a:lnTo>
                  <a:lnTo>
                    <a:pt x="1574673" y="736663"/>
                  </a:lnTo>
                  <a:lnTo>
                    <a:pt x="1574673" y="0"/>
                  </a:lnTo>
                  <a:close/>
                </a:path>
              </a:pathLst>
            </a:custGeom>
            <a:solidFill>
              <a:srgbClr val="17375E"/>
            </a:solidFill>
          </p:spPr>
          <p:txBody>
            <a:bodyPr wrap="square" lIns="0" tIns="0" rIns="0" bIns="0" rtlCol="0"/>
            <a:lstStyle/>
            <a:p>
              <a:endParaRPr dirty="0"/>
            </a:p>
          </p:txBody>
        </p:sp>
        <p:sp>
          <p:nvSpPr>
            <p:cNvPr id="23" name="object 23"/>
            <p:cNvSpPr/>
            <p:nvPr/>
          </p:nvSpPr>
          <p:spPr>
            <a:xfrm>
              <a:off x="4181982" y="5486171"/>
              <a:ext cx="1574800" cy="737235"/>
            </a:xfrm>
            <a:custGeom>
              <a:avLst/>
              <a:gdLst/>
              <a:ahLst/>
              <a:cxnLst/>
              <a:rect l="l" t="t" r="r" b="b"/>
              <a:pathLst>
                <a:path w="1574800" h="737235">
                  <a:moveTo>
                    <a:pt x="0" y="736663"/>
                  </a:moveTo>
                  <a:lnTo>
                    <a:pt x="1574673" y="736663"/>
                  </a:lnTo>
                  <a:lnTo>
                    <a:pt x="1574673" y="0"/>
                  </a:lnTo>
                  <a:lnTo>
                    <a:pt x="0" y="0"/>
                  </a:lnTo>
                  <a:lnTo>
                    <a:pt x="0" y="736663"/>
                  </a:lnTo>
                  <a:close/>
                </a:path>
              </a:pathLst>
            </a:custGeom>
            <a:ln w="9525">
              <a:solidFill>
                <a:srgbClr val="17375E"/>
              </a:solidFill>
            </a:ln>
          </p:spPr>
          <p:txBody>
            <a:bodyPr wrap="square" lIns="0" tIns="0" rIns="0" bIns="0" rtlCol="0"/>
            <a:lstStyle/>
            <a:p>
              <a:endParaRPr dirty="0"/>
            </a:p>
          </p:txBody>
        </p:sp>
        <p:sp>
          <p:nvSpPr>
            <p:cNvPr id="24" name="object 24"/>
            <p:cNvSpPr/>
            <p:nvPr/>
          </p:nvSpPr>
          <p:spPr>
            <a:xfrm>
              <a:off x="5877686" y="5022291"/>
              <a:ext cx="506095" cy="307975"/>
            </a:xfrm>
            <a:custGeom>
              <a:avLst/>
              <a:gdLst/>
              <a:ahLst/>
              <a:cxnLst/>
              <a:rect l="l" t="t" r="r" b="b"/>
              <a:pathLst>
                <a:path w="506095" h="307975">
                  <a:moveTo>
                    <a:pt x="0" y="307771"/>
                  </a:moveTo>
                  <a:lnTo>
                    <a:pt x="505942" y="307771"/>
                  </a:lnTo>
                  <a:lnTo>
                    <a:pt x="505942" y="0"/>
                  </a:lnTo>
                  <a:lnTo>
                    <a:pt x="0" y="0"/>
                  </a:lnTo>
                  <a:lnTo>
                    <a:pt x="0" y="307771"/>
                  </a:lnTo>
                  <a:close/>
                </a:path>
              </a:pathLst>
            </a:custGeom>
            <a:ln w="9525">
              <a:solidFill>
                <a:srgbClr val="49452A"/>
              </a:solidFill>
            </a:ln>
          </p:spPr>
          <p:txBody>
            <a:bodyPr wrap="square" lIns="0" tIns="0" rIns="0" bIns="0" rtlCol="0"/>
            <a:lstStyle/>
            <a:p>
              <a:endParaRPr dirty="0"/>
            </a:p>
          </p:txBody>
        </p:sp>
      </p:grpSp>
      <p:sp>
        <p:nvSpPr>
          <p:cNvPr id="36" name="object 36"/>
          <p:cNvSpPr txBox="1"/>
          <p:nvPr/>
        </p:nvSpPr>
        <p:spPr>
          <a:xfrm>
            <a:off x="3666235" y="4784852"/>
            <a:ext cx="1474470" cy="239395"/>
          </a:xfrm>
          <a:prstGeom prst="rect">
            <a:avLst/>
          </a:prstGeom>
        </p:spPr>
        <p:txBody>
          <a:bodyPr vert="horz" wrap="square" lIns="0" tIns="12700" rIns="0" bIns="0" rtlCol="0">
            <a:spAutoFit/>
          </a:bodyPr>
          <a:lstStyle/>
          <a:p>
            <a:pPr marL="12700">
              <a:lnSpc>
                <a:spcPct val="100000"/>
              </a:lnSpc>
              <a:spcBef>
                <a:spcPts val="100"/>
              </a:spcBef>
            </a:pPr>
            <a:r>
              <a:rPr sz="1400" b="1" u="sng" dirty="0">
                <a:solidFill>
                  <a:srgbClr val="1F487C"/>
                </a:solidFill>
                <a:uFill>
                  <a:solidFill>
                    <a:srgbClr val="1F487C"/>
                  </a:solidFill>
                </a:uFill>
                <a:latin typeface="Calibri"/>
                <a:cs typeface="Calibri"/>
              </a:rPr>
              <a:t>3</a:t>
            </a:r>
            <a:r>
              <a:rPr sz="1400" b="1" u="sng" spc="-25" dirty="0">
                <a:solidFill>
                  <a:srgbClr val="1F487C"/>
                </a:solidFill>
                <a:uFill>
                  <a:solidFill>
                    <a:srgbClr val="1F487C"/>
                  </a:solidFill>
                </a:uFill>
                <a:latin typeface="Calibri"/>
                <a:cs typeface="Calibri"/>
              </a:rPr>
              <a:t> </a:t>
            </a:r>
            <a:r>
              <a:rPr sz="1400" b="1" u="sng" spc="-20" dirty="0">
                <a:solidFill>
                  <a:srgbClr val="1F487C"/>
                </a:solidFill>
                <a:uFill>
                  <a:solidFill>
                    <a:srgbClr val="1F487C"/>
                  </a:solidFill>
                </a:uFill>
                <a:latin typeface="Calibri"/>
                <a:cs typeface="Calibri"/>
              </a:rPr>
              <a:t>LAYER</a:t>
            </a:r>
            <a:r>
              <a:rPr sz="1400" b="1" u="sng" spc="-30" dirty="0">
                <a:solidFill>
                  <a:srgbClr val="1F487C"/>
                </a:solidFill>
                <a:uFill>
                  <a:solidFill>
                    <a:srgbClr val="1F487C"/>
                  </a:solidFill>
                </a:uFill>
                <a:latin typeface="Calibri"/>
                <a:cs typeface="Calibri"/>
              </a:rPr>
              <a:t> </a:t>
            </a:r>
            <a:r>
              <a:rPr sz="1400" b="1" u="sng" spc="-10" dirty="0">
                <a:solidFill>
                  <a:srgbClr val="1F487C"/>
                </a:solidFill>
                <a:uFill>
                  <a:solidFill>
                    <a:srgbClr val="1F487C"/>
                  </a:solidFill>
                </a:uFill>
                <a:latin typeface="Calibri"/>
                <a:cs typeface="Calibri"/>
              </a:rPr>
              <a:t>APPORACH</a:t>
            </a:r>
            <a:endParaRPr sz="1400" dirty="0">
              <a:latin typeface="Calibri"/>
              <a:cs typeface="Calibri"/>
            </a:endParaRPr>
          </a:p>
        </p:txBody>
      </p:sp>
      <p:sp>
        <p:nvSpPr>
          <p:cNvPr id="25" name="object 25"/>
          <p:cNvSpPr txBox="1"/>
          <p:nvPr/>
        </p:nvSpPr>
        <p:spPr>
          <a:xfrm>
            <a:off x="5957061" y="5050282"/>
            <a:ext cx="3124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Times New Roman"/>
                <a:cs typeface="Times New Roman"/>
              </a:rPr>
              <a:t>INS</a:t>
            </a:r>
            <a:endParaRPr sz="1400" dirty="0">
              <a:latin typeface="Times New Roman"/>
              <a:cs typeface="Times New Roman"/>
            </a:endParaRPr>
          </a:p>
        </p:txBody>
      </p:sp>
      <p:grpSp>
        <p:nvGrpSpPr>
          <p:cNvPr id="26" name="object 26"/>
          <p:cNvGrpSpPr/>
          <p:nvPr/>
        </p:nvGrpSpPr>
        <p:grpSpPr>
          <a:xfrm>
            <a:off x="4596384" y="5076469"/>
            <a:ext cx="1492250" cy="1141730"/>
            <a:chOff x="4596384" y="5076469"/>
            <a:chExt cx="1492250" cy="1141730"/>
          </a:xfrm>
        </p:grpSpPr>
        <p:pic>
          <p:nvPicPr>
            <p:cNvPr id="27" name="object 27"/>
            <p:cNvPicPr/>
            <p:nvPr/>
          </p:nvPicPr>
          <p:blipFill>
            <a:blip r:embed="rId10" cstate="print"/>
            <a:stretch>
              <a:fillRect/>
            </a:stretch>
          </p:blipFill>
          <p:spPr>
            <a:xfrm>
              <a:off x="4596384" y="5076469"/>
              <a:ext cx="1395984" cy="234670"/>
            </a:xfrm>
            <a:prstGeom prst="rect">
              <a:avLst/>
            </a:prstGeom>
          </p:spPr>
        </p:pic>
        <p:sp>
          <p:nvSpPr>
            <p:cNvPr id="28" name="object 28"/>
            <p:cNvSpPr/>
            <p:nvPr/>
          </p:nvSpPr>
          <p:spPr>
            <a:xfrm>
              <a:off x="4638802" y="5138165"/>
              <a:ext cx="1238885" cy="104775"/>
            </a:xfrm>
            <a:custGeom>
              <a:avLst/>
              <a:gdLst/>
              <a:ahLst/>
              <a:cxnLst/>
              <a:rect l="l" t="t" r="r" b="b"/>
              <a:pathLst>
                <a:path w="1238885" h="104775">
                  <a:moveTo>
                    <a:pt x="1162685" y="25399"/>
                  </a:moveTo>
                  <a:lnTo>
                    <a:pt x="5714" y="25399"/>
                  </a:lnTo>
                  <a:lnTo>
                    <a:pt x="0" y="30987"/>
                  </a:lnTo>
                  <a:lnTo>
                    <a:pt x="126" y="104393"/>
                  </a:lnTo>
                  <a:lnTo>
                    <a:pt x="25526" y="104393"/>
                  </a:lnTo>
                  <a:lnTo>
                    <a:pt x="25424" y="50799"/>
                  </a:lnTo>
                  <a:lnTo>
                    <a:pt x="12700" y="50799"/>
                  </a:lnTo>
                  <a:lnTo>
                    <a:pt x="25400" y="38099"/>
                  </a:lnTo>
                  <a:lnTo>
                    <a:pt x="1162685" y="38099"/>
                  </a:lnTo>
                  <a:lnTo>
                    <a:pt x="1162685" y="25399"/>
                  </a:lnTo>
                  <a:close/>
                </a:path>
                <a:path w="1238885" h="104775">
                  <a:moveTo>
                    <a:pt x="1162685" y="0"/>
                  </a:moveTo>
                  <a:lnTo>
                    <a:pt x="1162685" y="76199"/>
                  </a:lnTo>
                  <a:lnTo>
                    <a:pt x="1213485" y="50799"/>
                  </a:lnTo>
                  <a:lnTo>
                    <a:pt x="1175385" y="50799"/>
                  </a:lnTo>
                  <a:lnTo>
                    <a:pt x="1175385" y="25399"/>
                  </a:lnTo>
                  <a:lnTo>
                    <a:pt x="1213485" y="25399"/>
                  </a:lnTo>
                  <a:lnTo>
                    <a:pt x="1162685" y="0"/>
                  </a:lnTo>
                  <a:close/>
                </a:path>
                <a:path w="1238885" h="104775">
                  <a:moveTo>
                    <a:pt x="25400" y="38099"/>
                  </a:moveTo>
                  <a:lnTo>
                    <a:pt x="12700" y="50799"/>
                  </a:lnTo>
                  <a:lnTo>
                    <a:pt x="25424" y="50799"/>
                  </a:lnTo>
                  <a:lnTo>
                    <a:pt x="25400" y="38099"/>
                  </a:lnTo>
                  <a:close/>
                </a:path>
                <a:path w="1238885" h="104775">
                  <a:moveTo>
                    <a:pt x="1162685" y="38099"/>
                  </a:moveTo>
                  <a:lnTo>
                    <a:pt x="25400" y="38099"/>
                  </a:lnTo>
                  <a:lnTo>
                    <a:pt x="25424" y="50799"/>
                  </a:lnTo>
                  <a:lnTo>
                    <a:pt x="1162685" y="50799"/>
                  </a:lnTo>
                  <a:lnTo>
                    <a:pt x="1162685" y="38099"/>
                  </a:lnTo>
                  <a:close/>
                </a:path>
                <a:path w="1238885" h="104775">
                  <a:moveTo>
                    <a:pt x="1213485" y="25399"/>
                  </a:moveTo>
                  <a:lnTo>
                    <a:pt x="1175385" y="25399"/>
                  </a:lnTo>
                  <a:lnTo>
                    <a:pt x="1175385" y="50799"/>
                  </a:lnTo>
                  <a:lnTo>
                    <a:pt x="1213485" y="50799"/>
                  </a:lnTo>
                  <a:lnTo>
                    <a:pt x="1238885" y="38099"/>
                  </a:lnTo>
                  <a:lnTo>
                    <a:pt x="1213485" y="25399"/>
                  </a:lnTo>
                  <a:close/>
                </a:path>
              </a:pathLst>
            </a:custGeom>
            <a:solidFill>
              <a:srgbClr val="49452A"/>
            </a:solidFill>
          </p:spPr>
          <p:txBody>
            <a:bodyPr wrap="square" lIns="0" tIns="0" rIns="0" bIns="0" rtlCol="0"/>
            <a:lstStyle/>
            <a:p>
              <a:endParaRPr dirty="0"/>
            </a:p>
          </p:txBody>
        </p:sp>
        <p:pic>
          <p:nvPicPr>
            <p:cNvPr id="29" name="object 29"/>
            <p:cNvPicPr/>
            <p:nvPr/>
          </p:nvPicPr>
          <p:blipFill>
            <a:blip r:embed="rId11" cstate="print"/>
            <a:stretch>
              <a:fillRect/>
            </a:stretch>
          </p:blipFill>
          <p:spPr>
            <a:xfrm>
              <a:off x="5713476" y="5818631"/>
              <a:ext cx="374954" cy="399275"/>
            </a:xfrm>
            <a:prstGeom prst="rect">
              <a:avLst/>
            </a:prstGeom>
          </p:spPr>
        </p:pic>
        <p:sp>
          <p:nvSpPr>
            <p:cNvPr id="30" name="object 30"/>
            <p:cNvSpPr/>
            <p:nvPr/>
          </p:nvSpPr>
          <p:spPr>
            <a:xfrm>
              <a:off x="5756529" y="5841796"/>
              <a:ext cx="217804" cy="280035"/>
            </a:xfrm>
            <a:custGeom>
              <a:avLst/>
              <a:gdLst/>
              <a:ahLst/>
              <a:cxnLst/>
              <a:rect l="l" t="t" r="r" b="b"/>
              <a:pathLst>
                <a:path w="217804" h="280035">
                  <a:moveTo>
                    <a:pt x="141478" y="203796"/>
                  </a:moveTo>
                  <a:lnTo>
                    <a:pt x="141478" y="279996"/>
                  </a:lnTo>
                  <a:lnTo>
                    <a:pt x="192278" y="254596"/>
                  </a:lnTo>
                  <a:lnTo>
                    <a:pt x="154178" y="254596"/>
                  </a:lnTo>
                  <a:lnTo>
                    <a:pt x="154178" y="229196"/>
                  </a:lnTo>
                  <a:lnTo>
                    <a:pt x="192278" y="229196"/>
                  </a:lnTo>
                  <a:lnTo>
                    <a:pt x="141478" y="203796"/>
                  </a:lnTo>
                  <a:close/>
                </a:path>
                <a:path w="217804" h="280035">
                  <a:moveTo>
                    <a:pt x="96138" y="12700"/>
                  </a:moveTo>
                  <a:lnTo>
                    <a:pt x="96138" y="248907"/>
                  </a:lnTo>
                  <a:lnTo>
                    <a:pt x="101854" y="254596"/>
                  </a:lnTo>
                  <a:lnTo>
                    <a:pt x="141478" y="254596"/>
                  </a:lnTo>
                  <a:lnTo>
                    <a:pt x="141478" y="241896"/>
                  </a:lnTo>
                  <a:lnTo>
                    <a:pt x="121538" y="241896"/>
                  </a:lnTo>
                  <a:lnTo>
                    <a:pt x="108838" y="229196"/>
                  </a:lnTo>
                  <a:lnTo>
                    <a:pt x="121538" y="229196"/>
                  </a:lnTo>
                  <a:lnTo>
                    <a:pt x="121538" y="25400"/>
                  </a:lnTo>
                  <a:lnTo>
                    <a:pt x="108838" y="25400"/>
                  </a:lnTo>
                  <a:lnTo>
                    <a:pt x="96138" y="12700"/>
                  </a:lnTo>
                  <a:close/>
                </a:path>
                <a:path w="217804" h="280035">
                  <a:moveTo>
                    <a:pt x="192278" y="229196"/>
                  </a:moveTo>
                  <a:lnTo>
                    <a:pt x="154178" y="229196"/>
                  </a:lnTo>
                  <a:lnTo>
                    <a:pt x="154178" y="254596"/>
                  </a:lnTo>
                  <a:lnTo>
                    <a:pt x="192278" y="254596"/>
                  </a:lnTo>
                  <a:lnTo>
                    <a:pt x="217678" y="241896"/>
                  </a:lnTo>
                  <a:lnTo>
                    <a:pt x="192278" y="229196"/>
                  </a:lnTo>
                  <a:close/>
                </a:path>
                <a:path w="217804" h="280035">
                  <a:moveTo>
                    <a:pt x="121538" y="229196"/>
                  </a:moveTo>
                  <a:lnTo>
                    <a:pt x="108838" y="229196"/>
                  </a:lnTo>
                  <a:lnTo>
                    <a:pt x="121538" y="241896"/>
                  </a:lnTo>
                  <a:lnTo>
                    <a:pt x="121538" y="229196"/>
                  </a:lnTo>
                  <a:close/>
                </a:path>
                <a:path w="217804" h="280035">
                  <a:moveTo>
                    <a:pt x="141478" y="229196"/>
                  </a:moveTo>
                  <a:lnTo>
                    <a:pt x="121538" y="229196"/>
                  </a:lnTo>
                  <a:lnTo>
                    <a:pt x="121538" y="241896"/>
                  </a:lnTo>
                  <a:lnTo>
                    <a:pt x="141478" y="241896"/>
                  </a:lnTo>
                  <a:lnTo>
                    <a:pt x="141478" y="229196"/>
                  </a:lnTo>
                  <a:close/>
                </a:path>
                <a:path w="217804" h="280035">
                  <a:moveTo>
                    <a:pt x="115824" y="0"/>
                  </a:moveTo>
                  <a:lnTo>
                    <a:pt x="0" y="0"/>
                  </a:lnTo>
                  <a:lnTo>
                    <a:pt x="0" y="25400"/>
                  </a:lnTo>
                  <a:lnTo>
                    <a:pt x="96138" y="25400"/>
                  </a:lnTo>
                  <a:lnTo>
                    <a:pt x="96138" y="12700"/>
                  </a:lnTo>
                  <a:lnTo>
                    <a:pt x="121538" y="12700"/>
                  </a:lnTo>
                  <a:lnTo>
                    <a:pt x="121538" y="5689"/>
                  </a:lnTo>
                  <a:lnTo>
                    <a:pt x="115824" y="0"/>
                  </a:lnTo>
                  <a:close/>
                </a:path>
                <a:path w="217804" h="280035">
                  <a:moveTo>
                    <a:pt x="121538" y="12700"/>
                  </a:moveTo>
                  <a:lnTo>
                    <a:pt x="96138" y="12700"/>
                  </a:lnTo>
                  <a:lnTo>
                    <a:pt x="108838" y="25400"/>
                  </a:lnTo>
                  <a:lnTo>
                    <a:pt x="121538" y="25400"/>
                  </a:lnTo>
                  <a:lnTo>
                    <a:pt x="121538" y="12700"/>
                  </a:lnTo>
                  <a:close/>
                </a:path>
              </a:pathLst>
            </a:custGeom>
            <a:solidFill>
              <a:srgbClr val="17375E"/>
            </a:solidFill>
          </p:spPr>
          <p:txBody>
            <a:bodyPr wrap="square" lIns="0" tIns="0" rIns="0" bIns="0" rtlCol="0"/>
            <a:lstStyle/>
            <a:p>
              <a:endParaRPr dirty="0"/>
            </a:p>
          </p:txBody>
        </p:sp>
      </p:grpSp>
      <p:grpSp>
        <p:nvGrpSpPr>
          <p:cNvPr id="32" name="object 32"/>
          <p:cNvGrpSpPr/>
          <p:nvPr/>
        </p:nvGrpSpPr>
        <p:grpSpPr>
          <a:xfrm>
            <a:off x="5494020" y="5402579"/>
            <a:ext cx="1004569" cy="417830"/>
            <a:chOff x="5494020" y="5402579"/>
            <a:chExt cx="1004569" cy="417830"/>
          </a:xfrm>
        </p:grpSpPr>
        <p:pic>
          <p:nvPicPr>
            <p:cNvPr id="33" name="object 33"/>
            <p:cNvPicPr/>
            <p:nvPr/>
          </p:nvPicPr>
          <p:blipFill>
            <a:blip r:embed="rId12" cstate="print"/>
            <a:stretch>
              <a:fillRect/>
            </a:stretch>
          </p:blipFill>
          <p:spPr>
            <a:xfrm>
              <a:off x="5494020" y="5402579"/>
              <a:ext cx="1004303" cy="417563"/>
            </a:xfrm>
            <a:prstGeom prst="rect">
              <a:avLst/>
            </a:prstGeom>
          </p:spPr>
        </p:pic>
        <p:sp>
          <p:nvSpPr>
            <p:cNvPr id="34" name="object 34"/>
            <p:cNvSpPr/>
            <p:nvPr/>
          </p:nvSpPr>
          <p:spPr>
            <a:xfrm>
              <a:off x="5536819" y="5425693"/>
              <a:ext cx="847090" cy="297815"/>
            </a:xfrm>
            <a:custGeom>
              <a:avLst/>
              <a:gdLst/>
              <a:ahLst/>
              <a:cxnLst/>
              <a:rect l="l" t="t" r="r" b="b"/>
              <a:pathLst>
                <a:path w="847089" h="297814">
                  <a:moveTo>
                    <a:pt x="770635" y="221259"/>
                  </a:moveTo>
                  <a:lnTo>
                    <a:pt x="770635" y="297459"/>
                  </a:lnTo>
                  <a:lnTo>
                    <a:pt x="821435" y="272059"/>
                  </a:lnTo>
                  <a:lnTo>
                    <a:pt x="783335" y="272059"/>
                  </a:lnTo>
                  <a:lnTo>
                    <a:pt x="783335" y="246659"/>
                  </a:lnTo>
                  <a:lnTo>
                    <a:pt x="821435" y="246659"/>
                  </a:lnTo>
                  <a:lnTo>
                    <a:pt x="770635" y="221259"/>
                  </a:lnTo>
                  <a:close/>
                </a:path>
                <a:path w="847089" h="297814">
                  <a:moveTo>
                    <a:pt x="410717" y="12699"/>
                  </a:moveTo>
                  <a:lnTo>
                    <a:pt x="410717" y="266382"/>
                  </a:lnTo>
                  <a:lnTo>
                    <a:pt x="416305" y="272059"/>
                  </a:lnTo>
                  <a:lnTo>
                    <a:pt x="770635" y="272059"/>
                  </a:lnTo>
                  <a:lnTo>
                    <a:pt x="770635" y="259359"/>
                  </a:lnTo>
                  <a:lnTo>
                    <a:pt x="436117" y="259359"/>
                  </a:lnTo>
                  <a:lnTo>
                    <a:pt x="423417" y="246659"/>
                  </a:lnTo>
                  <a:lnTo>
                    <a:pt x="436117" y="246659"/>
                  </a:lnTo>
                  <a:lnTo>
                    <a:pt x="436117" y="25399"/>
                  </a:lnTo>
                  <a:lnTo>
                    <a:pt x="423417" y="25399"/>
                  </a:lnTo>
                  <a:lnTo>
                    <a:pt x="410717" y="12699"/>
                  </a:lnTo>
                  <a:close/>
                </a:path>
                <a:path w="847089" h="297814">
                  <a:moveTo>
                    <a:pt x="821435" y="246659"/>
                  </a:moveTo>
                  <a:lnTo>
                    <a:pt x="783335" y="246659"/>
                  </a:lnTo>
                  <a:lnTo>
                    <a:pt x="783335" y="272059"/>
                  </a:lnTo>
                  <a:lnTo>
                    <a:pt x="821435" y="272059"/>
                  </a:lnTo>
                  <a:lnTo>
                    <a:pt x="846835" y="259359"/>
                  </a:lnTo>
                  <a:lnTo>
                    <a:pt x="821435" y="246659"/>
                  </a:lnTo>
                  <a:close/>
                </a:path>
                <a:path w="847089" h="297814">
                  <a:moveTo>
                    <a:pt x="436117" y="246659"/>
                  </a:moveTo>
                  <a:lnTo>
                    <a:pt x="423417" y="246659"/>
                  </a:lnTo>
                  <a:lnTo>
                    <a:pt x="436117" y="259359"/>
                  </a:lnTo>
                  <a:lnTo>
                    <a:pt x="436117" y="246659"/>
                  </a:lnTo>
                  <a:close/>
                </a:path>
                <a:path w="847089" h="297814">
                  <a:moveTo>
                    <a:pt x="770635" y="246659"/>
                  </a:moveTo>
                  <a:lnTo>
                    <a:pt x="436117" y="246659"/>
                  </a:lnTo>
                  <a:lnTo>
                    <a:pt x="436117" y="259359"/>
                  </a:lnTo>
                  <a:lnTo>
                    <a:pt x="770635" y="259359"/>
                  </a:lnTo>
                  <a:lnTo>
                    <a:pt x="770635" y="246659"/>
                  </a:lnTo>
                  <a:close/>
                </a:path>
                <a:path w="847089" h="297814">
                  <a:moveTo>
                    <a:pt x="430402" y="0"/>
                  </a:moveTo>
                  <a:lnTo>
                    <a:pt x="0" y="0"/>
                  </a:lnTo>
                  <a:lnTo>
                    <a:pt x="0" y="25399"/>
                  </a:lnTo>
                  <a:lnTo>
                    <a:pt x="410717" y="25399"/>
                  </a:lnTo>
                  <a:lnTo>
                    <a:pt x="410717" y="12699"/>
                  </a:lnTo>
                  <a:lnTo>
                    <a:pt x="436117" y="12699"/>
                  </a:lnTo>
                  <a:lnTo>
                    <a:pt x="436117" y="5714"/>
                  </a:lnTo>
                  <a:lnTo>
                    <a:pt x="430402" y="0"/>
                  </a:lnTo>
                  <a:close/>
                </a:path>
                <a:path w="847089" h="297814">
                  <a:moveTo>
                    <a:pt x="436117" y="12699"/>
                  </a:moveTo>
                  <a:lnTo>
                    <a:pt x="410717" y="12699"/>
                  </a:lnTo>
                  <a:lnTo>
                    <a:pt x="423417" y="25399"/>
                  </a:lnTo>
                  <a:lnTo>
                    <a:pt x="436117" y="25399"/>
                  </a:lnTo>
                  <a:lnTo>
                    <a:pt x="436117" y="12699"/>
                  </a:lnTo>
                  <a:close/>
                </a:path>
              </a:pathLst>
            </a:custGeom>
            <a:solidFill>
              <a:srgbClr val="943735"/>
            </a:solidFill>
          </p:spPr>
          <p:txBody>
            <a:bodyPr wrap="square" lIns="0" tIns="0" rIns="0" bIns="0" rtlCol="0"/>
            <a:lstStyle/>
            <a:p>
              <a:endParaRPr dirty="0"/>
            </a:p>
          </p:txBody>
        </p:sp>
      </p:grpSp>
      <p:sp>
        <p:nvSpPr>
          <p:cNvPr id="35" name="object 35"/>
          <p:cNvSpPr txBox="1"/>
          <p:nvPr/>
        </p:nvSpPr>
        <p:spPr>
          <a:xfrm>
            <a:off x="6362700" y="5530215"/>
            <a:ext cx="1037590" cy="307975"/>
          </a:xfrm>
          <a:prstGeom prst="rect">
            <a:avLst/>
          </a:prstGeom>
          <a:ln w="9525">
            <a:solidFill>
              <a:srgbClr val="49452A"/>
            </a:solidFill>
          </a:ln>
        </p:spPr>
        <p:txBody>
          <a:bodyPr vert="horz" wrap="square" lIns="0" tIns="40640" rIns="0" bIns="0" rtlCol="0">
            <a:spAutoFit/>
          </a:bodyPr>
          <a:lstStyle/>
          <a:p>
            <a:pPr marL="92075">
              <a:lnSpc>
                <a:spcPct val="100000"/>
              </a:lnSpc>
              <a:spcBef>
                <a:spcPts val="320"/>
              </a:spcBef>
            </a:pPr>
            <a:r>
              <a:rPr sz="1400" spc="-10" dirty="0">
                <a:latin typeface="Times New Roman"/>
                <a:cs typeface="Times New Roman"/>
              </a:rPr>
              <a:t>LEO-</a:t>
            </a:r>
            <a:r>
              <a:rPr sz="1400" spc="-25" dirty="0">
                <a:latin typeface="Times New Roman"/>
                <a:cs typeface="Times New Roman"/>
              </a:rPr>
              <a:t>PNT</a:t>
            </a:r>
            <a:endParaRPr sz="1400" dirty="0">
              <a:latin typeface="Times New Roman"/>
              <a:cs typeface="Times New Roman"/>
            </a:endParaRPr>
          </a:p>
        </p:txBody>
      </p:sp>
      <p:sp>
        <p:nvSpPr>
          <p:cNvPr id="31" name="object 31"/>
          <p:cNvSpPr txBox="1"/>
          <p:nvPr/>
        </p:nvSpPr>
        <p:spPr>
          <a:xfrm>
            <a:off x="5974207" y="5929807"/>
            <a:ext cx="696595" cy="307975"/>
          </a:xfrm>
          <a:prstGeom prst="rect">
            <a:avLst/>
          </a:prstGeom>
          <a:ln w="9525">
            <a:solidFill>
              <a:srgbClr val="49452A"/>
            </a:solidFill>
          </a:ln>
        </p:spPr>
        <p:txBody>
          <a:bodyPr vert="horz" wrap="square" lIns="0" tIns="41275" rIns="0" bIns="0" rtlCol="0">
            <a:spAutoFit/>
          </a:bodyPr>
          <a:lstStyle/>
          <a:p>
            <a:pPr marL="92075">
              <a:lnSpc>
                <a:spcPct val="100000"/>
              </a:lnSpc>
              <a:spcBef>
                <a:spcPts val="325"/>
              </a:spcBef>
            </a:pPr>
            <a:r>
              <a:rPr sz="1400" spc="-20" dirty="0">
                <a:latin typeface="Times New Roman"/>
                <a:cs typeface="Times New Roman"/>
              </a:rPr>
              <a:t>GNSS</a:t>
            </a:r>
            <a:endParaRPr sz="1400" dirty="0">
              <a:latin typeface="Times New Roman"/>
              <a:cs typeface="Times New Roman"/>
            </a:endParaRPr>
          </a:p>
        </p:txBody>
      </p:sp>
      <p:sp>
        <p:nvSpPr>
          <p:cNvPr id="39" name="object 39"/>
          <p:cNvSpPr txBox="1"/>
          <p:nvPr/>
        </p:nvSpPr>
        <p:spPr>
          <a:xfrm>
            <a:off x="3680840" y="5301601"/>
            <a:ext cx="8501034" cy="1047723"/>
          </a:xfrm>
          <a:prstGeom prst="rect">
            <a:avLst/>
          </a:prstGeom>
          <a:solidFill>
            <a:srgbClr val="94B3D6"/>
          </a:solidFill>
          <a:ln w="9525">
            <a:solidFill>
              <a:srgbClr val="DCE6F1"/>
            </a:solidFill>
          </a:ln>
        </p:spPr>
        <p:txBody>
          <a:bodyPr vert="horz" wrap="square" lIns="0" tIns="102870" rIns="0" bIns="0" rtlCol="0">
            <a:spAutoFit/>
          </a:bodyPr>
          <a:lstStyle/>
          <a:p>
            <a:pPr marL="92075" marR="691515">
              <a:lnSpc>
                <a:spcPct val="100000"/>
              </a:lnSpc>
              <a:spcBef>
                <a:spcPts val="810"/>
              </a:spcBef>
            </a:pPr>
            <a:r>
              <a:rPr sz="1600" b="1" dirty="0">
                <a:solidFill>
                  <a:srgbClr val="1E1C11"/>
                </a:solidFill>
                <a:latin typeface="Times New Roman" panose="02020603050405020304" pitchFamily="18" charset="0"/>
                <a:cs typeface="Times New Roman" panose="02020603050405020304" pitchFamily="18" charset="0"/>
              </a:rPr>
              <a:t>GitHub </a:t>
            </a:r>
            <a:r>
              <a:rPr sz="1600" b="1" spc="-10" dirty="0">
                <a:solidFill>
                  <a:srgbClr val="1E1C11"/>
                </a:solidFill>
                <a:latin typeface="Times New Roman" panose="02020603050405020304" pitchFamily="18" charset="0"/>
                <a:cs typeface="Times New Roman" panose="02020603050405020304" pitchFamily="18" charset="0"/>
              </a:rPr>
              <a:t>link: </a:t>
            </a:r>
            <a:r>
              <a:rPr sz="1600" b="1" u="sng" spc="-10" dirty="0">
                <a:solidFill>
                  <a:srgbClr val="0000FF"/>
                </a:solidFill>
                <a:uFill>
                  <a:solidFill>
                    <a:srgbClr val="0000FF"/>
                  </a:solidFill>
                </a:uFill>
                <a:latin typeface="Times New Roman" panose="02020603050405020304" pitchFamily="18" charset="0"/>
                <a:cs typeface="Times New Roman" panose="02020603050405020304" pitchFamily="18" charset="0"/>
                <a:hlinkClick r:id="rId13"/>
              </a:rPr>
              <a:t>https://github.com/sangsaist/ZyraNav.git</a:t>
            </a:r>
            <a:r>
              <a:rPr sz="1600" b="1" spc="-10" dirty="0">
                <a:solidFill>
                  <a:srgbClr val="0000FF"/>
                </a:solidFill>
                <a:latin typeface="Times New Roman" panose="02020603050405020304" pitchFamily="18" charset="0"/>
                <a:cs typeface="Times New Roman" panose="02020603050405020304" pitchFamily="18" charset="0"/>
              </a:rPr>
              <a:t> </a:t>
            </a:r>
            <a:endParaRPr lang="en-US" sz="1600" b="1" spc="-10" dirty="0">
              <a:solidFill>
                <a:srgbClr val="0000FF"/>
              </a:solidFill>
              <a:latin typeface="Times New Roman" panose="02020603050405020304" pitchFamily="18" charset="0"/>
              <a:cs typeface="Times New Roman" panose="02020603050405020304" pitchFamily="18" charset="0"/>
            </a:endParaRPr>
          </a:p>
          <a:p>
            <a:pPr marL="92075" marR="691515">
              <a:lnSpc>
                <a:spcPct val="100000"/>
              </a:lnSpc>
              <a:spcBef>
                <a:spcPts val="810"/>
              </a:spcBef>
            </a:pPr>
            <a:r>
              <a:rPr sz="1600" b="1" spc="-30" dirty="0">
                <a:solidFill>
                  <a:srgbClr val="1E1C11"/>
                </a:solidFill>
                <a:latin typeface="Times New Roman" panose="02020603050405020304" pitchFamily="18" charset="0"/>
                <a:cs typeface="Times New Roman" panose="02020603050405020304" pitchFamily="18" charset="0"/>
              </a:rPr>
              <a:t>YouTube</a:t>
            </a:r>
            <a:r>
              <a:rPr sz="1600" b="1" spc="-40" dirty="0">
                <a:solidFill>
                  <a:srgbClr val="1E1C11"/>
                </a:solidFill>
                <a:latin typeface="Times New Roman" panose="02020603050405020304" pitchFamily="18" charset="0"/>
                <a:cs typeface="Times New Roman" panose="02020603050405020304" pitchFamily="18" charset="0"/>
              </a:rPr>
              <a:t> </a:t>
            </a:r>
            <a:r>
              <a:rPr sz="1600" b="1" dirty="0">
                <a:solidFill>
                  <a:srgbClr val="1E1C11"/>
                </a:solidFill>
                <a:latin typeface="Times New Roman" panose="02020603050405020304" pitchFamily="18" charset="0"/>
                <a:cs typeface="Times New Roman" panose="02020603050405020304" pitchFamily="18" charset="0"/>
              </a:rPr>
              <a:t>video</a:t>
            </a:r>
            <a:r>
              <a:rPr sz="1600" b="1" spc="-45" dirty="0">
                <a:solidFill>
                  <a:srgbClr val="1E1C11"/>
                </a:solidFill>
                <a:latin typeface="Times New Roman" panose="02020603050405020304" pitchFamily="18" charset="0"/>
                <a:cs typeface="Times New Roman" panose="02020603050405020304" pitchFamily="18" charset="0"/>
              </a:rPr>
              <a:t> </a:t>
            </a:r>
            <a:r>
              <a:rPr sz="1600" b="1" dirty="0">
                <a:solidFill>
                  <a:srgbClr val="1E1C11"/>
                </a:solidFill>
                <a:latin typeface="Times New Roman" panose="02020603050405020304" pitchFamily="18" charset="0"/>
                <a:cs typeface="Times New Roman" panose="02020603050405020304" pitchFamily="18" charset="0"/>
              </a:rPr>
              <a:t>:</a:t>
            </a:r>
            <a:r>
              <a:rPr sz="1600" b="1" spc="-20" dirty="0">
                <a:solidFill>
                  <a:srgbClr val="1E1C11"/>
                </a:solidFill>
                <a:latin typeface="Times New Roman" panose="02020603050405020304" pitchFamily="18" charset="0"/>
                <a:cs typeface="Times New Roman" panose="02020603050405020304" pitchFamily="18" charset="0"/>
              </a:rPr>
              <a:t> </a:t>
            </a:r>
            <a:r>
              <a:rPr sz="1600" b="1" u="sng" spc="-20" dirty="0">
                <a:solidFill>
                  <a:srgbClr val="800080"/>
                </a:solidFill>
                <a:uFill>
                  <a:solidFill>
                    <a:srgbClr val="800080"/>
                  </a:solidFill>
                </a:uFill>
                <a:latin typeface="Times New Roman" panose="02020603050405020304" pitchFamily="18" charset="0"/>
                <a:cs typeface="Times New Roman" panose="02020603050405020304" pitchFamily="18" charset="0"/>
                <a:hlinkClick r:id="rId14"/>
              </a:rPr>
              <a:t>Link</a:t>
            </a:r>
            <a:endParaRPr lang="en-US" sz="1600" u="sng" spc="-20" dirty="0">
              <a:uFill>
                <a:solidFill>
                  <a:srgbClr val="800080"/>
                </a:solidFill>
              </a:uFill>
              <a:latin typeface="Times New Roman" panose="02020603050405020304" pitchFamily="18" charset="0"/>
              <a:cs typeface="Times New Roman" panose="02020603050405020304" pitchFamily="18" charset="0"/>
            </a:endParaRPr>
          </a:p>
          <a:p>
            <a:pPr marL="92075" marR="691515">
              <a:lnSpc>
                <a:spcPct val="100000"/>
              </a:lnSpc>
              <a:spcBef>
                <a:spcPts val="810"/>
              </a:spcBef>
            </a:pPr>
            <a:r>
              <a:rPr sz="1600" b="1" dirty="0">
                <a:solidFill>
                  <a:srgbClr val="FF0000"/>
                </a:solidFill>
                <a:latin typeface="Times New Roman" panose="02020603050405020304" pitchFamily="18" charset="0"/>
                <a:cs typeface="Times New Roman" panose="02020603050405020304" pitchFamily="18" charset="0"/>
              </a:rPr>
              <a:t>Above</a:t>
            </a:r>
            <a:r>
              <a:rPr sz="1600" b="1" spc="-65" dirty="0">
                <a:solidFill>
                  <a:srgbClr val="FF0000"/>
                </a:solidFill>
                <a:latin typeface="Times New Roman" panose="02020603050405020304" pitchFamily="18" charset="0"/>
                <a:cs typeface="Times New Roman" panose="02020603050405020304" pitchFamily="18" charset="0"/>
              </a:rPr>
              <a:t> </a:t>
            </a:r>
            <a:r>
              <a:rPr sz="1600" b="1" dirty="0">
                <a:solidFill>
                  <a:srgbClr val="FF0000"/>
                </a:solidFill>
                <a:latin typeface="Times New Roman" panose="02020603050405020304" pitchFamily="18" charset="0"/>
                <a:cs typeface="Times New Roman" panose="02020603050405020304" pitchFamily="18" charset="0"/>
              </a:rPr>
              <a:t>40%</a:t>
            </a:r>
            <a:r>
              <a:rPr sz="1600" b="1" spc="-10" dirty="0">
                <a:solidFill>
                  <a:srgbClr val="FF0000"/>
                </a:solidFill>
                <a:latin typeface="Times New Roman" panose="02020603050405020304" pitchFamily="18" charset="0"/>
                <a:cs typeface="Times New Roman" panose="02020603050405020304" pitchFamily="18" charset="0"/>
              </a:rPr>
              <a:t> </a:t>
            </a:r>
            <a:r>
              <a:rPr sz="1600" b="1" dirty="0">
                <a:solidFill>
                  <a:srgbClr val="FF0000"/>
                </a:solidFill>
                <a:latin typeface="Times New Roman" panose="02020603050405020304" pitchFamily="18" charset="0"/>
                <a:cs typeface="Times New Roman" panose="02020603050405020304" pitchFamily="18" charset="0"/>
              </a:rPr>
              <a:t>of</a:t>
            </a:r>
            <a:r>
              <a:rPr sz="1600" b="1" spc="-15" dirty="0">
                <a:solidFill>
                  <a:srgbClr val="FF0000"/>
                </a:solidFill>
                <a:latin typeface="Times New Roman" panose="02020603050405020304" pitchFamily="18" charset="0"/>
                <a:cs typeface="Times New Roman" panose="02020603050405020304" pitchFamily="18" charset="0"/>
              </a:rPr>
              <a:t> </a:t>
            </a:r>
            <a:r>
              <a:rPr sz="1600" b="1" dirty="0">
                <a:solidFill>
                  <a:srgbClr val="FF0000"/>
                </a:solidFill>
                <a:latin typeface="Times New Roman" panose="02020603050405020304" pitchFamily="18" charset="0"/>
                <a:cs typeface="Times New Roman" panose="02020603050405020304" pitchFamily="18" charset="0"/>
              </a:rPr>
              <a:t>the</a:t>
            </a:r>
            <a:r>
              <a:rPr sz="1600" b="1" spc="-25" dirty="0">
                <a:solidFill>
                  <a:srgbClr val="FF0000"/>
                </a:solidFill>
                <a:latin typeface="Times New Roman" panose="02020603050405020304" pitchFamily="18" charset="0"/>
                <a:cs typeface="Times New Roman" panose="02020603050405020304" pitchFamily="18" charset="0"/>
              </a:rPr>
              <a:t> </a:t>
            </a:r>
            <a:r>
              <a:rPr sz="1600" b="1" dirty="0">
                <a:solidFill>
                  <a:srgbClr val="FF0000"/>
                </a:solidFill>
                <a:latin typeface="Times New Roman" panose="02020603050405020304" pitchFamily="18" charset="0"/>
                <a:cs typeface="Times New Roman" panose="02020603050405020304" pitchFamily="18" charset="0"/>
              </a:rPr>
              <a:t>prototype</a:t>
            </a:r>
            <a:r>
              <a:rPr sz="1600" b="1" spc="-60" dirty="0">
                <a:solidFill>
                  <a:srgbClr val="FF0000"/>
                </a:solidFill>
                <a:latin typeface="Times New Roman" panose="02020603050405020304" pitchFamily="18" charset="0"/>
                <a:cs typeface="Times New Roman" panose="02020603050405020304" pitchFamily="18" charset="0"/>
              </a:rPr>
              <a:t> </a:t>
            </a:r>
            <a:r>
              <a:rPr sz="1600" b="1" dirty="0">
                <a:solidFill>
                  <a:srgbClr val="FF0000"/>
                </a:solidFill>
                <a:latin typeface="Times New Roman" panose="02020603050405020304" pitchFamily="18" charset="0"/>
                <a:cs typeface="Times New Roman" panose="02020603050405020304" pitchFamily="18" charset="0"/>
              </a:rPr>
              <a:t>is</a:t>
            </a:r>
            <a:r>
              <a:rPr sz="1600" b="1" spc="-15" dirty="0">
                <a:solidFill>
                  <a:srgbClr val="FF0000"/>
                </a:solidFill>
                <a:latin typeface="Times New Roman" panose="02020603050405020304" pitchFamily="18" charset="0"/>
                <a:cs typeface="Times New Roman" panose="02020603050405020304" pitchFamily="18" charset="0"/>
              </a:rPr>
              <a:t> </a:t>
            </a:r>
            <a:r>
              <a:rPr sz="1600" b="1" spc="-10" dirty="0">
                <a:solidFill>
                  <a:srgbClr val="FF0000"/>
                </a:solidFill>
                <a:latin typeface="Times New Roman" panose="02020603050405020304" pitchFamily="18" charset="0"/>
                <a:cs typeface="Times New Roman" panose="02020603050405020304" pitchFamily="18" charset="0"/>
              </a:rPr>
              <a:t>completed</a:t>
            </a:r>
            <a:endParaRPr sz="1600" dirty="0">
              <a:latin typeface="Times New Roman" panose="02020603050405020304" pitchFamily="18" charset="0"/>
              <a:cs typeface="Times New Roman" panose="02020603050405020304" pitchFamily="18" charset="0"/>
            </a:endParaRPr>
          </a:p>
        </p:txBody>
      </p:sp>
      <p:sp>
        <p:nvSpPr>
          <p:cNvPr id="44" name="object 44"/>
          <p:cNvSpPr txBox="1">
            <a:spLocks noGrp="1"/>
          </p:cNvSpPr>
          <p:nvPr>
            <p:ph type="sldNum" sz="quarter" idx="7"/>
          </p:nvPr>
        </p:nvSpPr>
        <p:spPr>
          <a:prstGeom prst="rect">
            <a:avLst/>
          </a:prstGeom>
        </p:spPr>
        <p:txBody>
          <a:bodyPr vert="horz" wrap="square" lIns="0" tIns="0" rIns="0" bIns="0" rtlCol="0">
            <a:spAutoFit/>
          </a:bodyPr>
          <a:lstStyle/>
          <a:p>
            <a:pPr marL="63500">
              <a:lnSpc>
                <a:spcPts val="1240"/>
              </a:lnSpc>
            </a:pPr>
            <a:fld id="{81D60167-4931-47E6-BA6A-407CBD079E47}" type="slidenum">
              <a:rPr spc="-50" dirty="0"/>
              <a:t>3</a:t>
            </a:fld>
            <a:endParaRPr spc="-50" dirty="0"/>
          </a:p>
        </p:txBody>
      </p:sp>
      <p:cxnSp>
        <p:nvCxnSpPr>
          <p:cNvPr id="46" name="Straight Connector 45">
            <a:extLst>
              <a:ext uri="{FF2B5EF4-FFF2-40B4-BE49-F238E27FC236}">
                <a16:creationId xmlns:a16="http://schemas.microsoft.com/office/drawing/2014/main" id="{E44663C9-24C3-14A0-178D-A0B24B5DD686}"/>
              </a:ext>
            </a:extLst>
          </p:cNvPr>
          <p:cNvCxnSpPr>
            <a:cxnSpLocks/>
          </p:cNvCxnSpPr>
          <p:nvPr/>
        </p:nvCxnSpPr>
        <p:spPr>
          <a:xfrm>
            <a:off x="3656108" y="632897"/>
            <a:ext cx="3920" cy="5740913"/>
          </a:xfrm>
          <a:prstGeom prst="line">
            <a:avLst/>
          </a:prstGeom>
          <a:ln w="19050"/>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4250B270-7067-0265-F68E-DFE12D42A1B9}"/>
              </a:ext>
            </a:extLst>
          </p:cNvPr>
          <p:cNvPicPr>
            <a:picLocks noChangeAspect="1"/>
          </p:cNvPicPr>
          <p:nvPr/>
        </p:nvPicPr>
        <p:blipFill>
          <a:blip r:embed="rId15"/>
          <a:srcRect t="7567"/>
          <a:stretch>
            <a:fillRect/>
          </a:stretch>
        </p:blipFill>
        <p:spPr>
          <a:xfrm>
            <a:off x="3706500" y="988578"/>
            <a:ext cx="8383156" cy="4322384"/>
          </a:xfrm>
          <a:prstGeom prst="rect">
            <a:avLst/>
          </a:prstGeom>
        </p:spPr>
      </p:pic>
      <p:pic>
        <p:nvPicPr>
          <p:cNvPr id="40" name="Picture 39">
            <a:extLst>
              <a:ext uri="{FF2B5EF4-FFF2-40B4-BE49-F238E27FC236}">
                <a16:creationId xmlns:a16="http://schemas.microsoft.com/office/drawing/2014/main" id="{6CB643B0-B614-C6FE-5469-9D66D2D0C402}"/>
              </a:ext>
            </a:extLst>
          </p:cNvPr>
          <p:cNvPicPr>
            <a:picLocks noChangeAspect="1"/>
          </p:cNvPicPr>
          <p:nvPr/>
        </p:nvPicPr>
        <p:blipFill>
          <a:blip r:embed="rId16"/>
          <a:stretch>
            <a:fillRect/>
          </a:stretch>
        </p:blipFill>
        <p:spPr>
          <a:xfrm>
            <a:off x="10896600" y="7783"/>
            <a:ext cx="1295400" cy="6202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700" y="-25"/>
            <a:ext cx="12217400" cy="6858634"/>
            <a:chOff x="-12700" y="-25"/>
            <a:chExt cx="12217400" cy="6858634"/>
          </a:xfrm>
        </p:grpSpPr>
        <p:pic>
          <p:nvPicPr>
            <p:cNvPr id="3" name="object 3" descr="https://www.sih.gov.in/img1/SIH-Logo.png"/>
            <p:cNvPicPr/>
            <p:nvPr/>
          </p:nvPicPr>
          <p:blipFill>
            <a:blip r:embed="rId2" cstate="print"/>
            <a:stretch>
              <a:fillRect/>
            </a:stretch>
          </p:blipFill>
          <p:spPr>
            <a:xfrm>
              <a:off x="10597494" y="-25"/>
              <a:ext cx="1436793" cy="650856"/>
            </a:xfrm>
            <a:prstGeom prst="rect">
              <a:avLst/>
            </a:prstGeom>
          </p:spPr>
        </p:pic>
        <p:pic>
          <p:nvPicPr>
            <p:cNvPr id="4" name="object 4"/>
            <p:cNvPicPr/>
            <p:nvPr/>
          </p:nvPicPr>
          <p:blipFill>
            <a:blip r:embed="rId3" cstate="print"/>
            <a:stretch>
              <a:fillRect/>
            </a:stretch>
          </p:blipFill>
          <p:spPr>
            <a:xfrm>
              <a:off x="0" y="664141"/>
              <a:ext cx="12192000" cy="88847"/>
            </a:xfrm>
            <a:prstGeom prst="rect">
              <a:avLst/>
            </a:prstGeom>
          </p:spPr>
        </p:pic>
        <p:sp>
          <p:nvSpPr>
            <p:cNvPr id="5" name="object 5"/>
            <p:cNvSpPr/>
            <p:nvPr/>
          </p:nvSpPr>
          <p:spPr>
            <a:xfrm>
              <a:off x="0" y="691006"/>
              <a:ext cx="12192000" cy="0"/>
            </a:xfrm>
            <a:custGeom>
              <a:avLst/>
              <a:gdLst/>
              <a:ahLst/>
              <a:cxnLst/>
              <a:rect l="l" t="t" r="r" b="b"/>
              <a:pathLst>
                <a:path w="12192000">
                  <a:moveTo>
                    <a:pt x="0" y="0"/>
                  </a:moveTo>
                  <a:lnTo>
                    <a:pt x="12192000" y="0"/>
                  </a:lnTo>
                </a:path>
              </a:pathLst>
            </a:custGeom>
            <a:ln w="25400">
              <a:solidFill>
                <a:srgbClr val="4F81BC"/>
              </a:solidFill>
            </a:ln>
          </p:spPr>
          <p:txBody>
            <a:bodyPr wrap="square" lIns="0" tIns="0" rIns="0" bIns="0" rtlCol="0"/>
            <a:lstStyle/>
            <a:p>
              <a:endParaRPr dirty="0"/>
            </a:p>
          </p:txBody>
        </p:sp>
      </p:grpSp>
      <p:sp>
        <p:nvSpPr>
          <p:cNvPr id="6" name="object 6" descr="$PPTXTitle"/>
          <p:cNvSpPr txBox="1">
            <a:spLocks noGrp="1"/>
          </p:cNvSpPr>
          <p:nvPr>
            <p:ph type="title"/>
          </p:nvPr>
        </p:nvSpPr>
        <p:spPr>
          <a:prstGeom prst="rect">
            <a:avLst/>
          </a:prstGeom>
        </p:spPr>
        <p:txBody>
          <a:bodyPr vert="horz" wrap="square" lIns="0" tIns="12065" rIns="0" bIns="0" rtlCol="0">
            <a:spAutoFit/>
          </a:bodyPr>
          <a:lstStyle/>
          <a:p>
            <a:pPr marL="13335">
              <a:lnSpc>
                <a:spcPct val="100000"/>
              </a:lnSpc>
              <a:spcBef>
                <a:spcPts val="95"/>
              </a:spcBef>
            </a:pPr>
            <a:r>
              <a:rPr spc="-30" dirty="0"/>
              <a:t>FEASIBILITY</a:t>
            </a:r>
            <a:r>
              <a:rPr spc="-225" dirty="0"/>
              <a:t> </a:t>
            </a:r>
            <a:r>
              <a:rPr dirty="0"/>
              <a:t>AND</a:t>
            </a:r>
            <a:r>
              <a:rPr spc="-25" dirty="0"/>
              <a:t> </a:t>
            </a:r>
            <a:r>
              <a:rPr spc="-10" dirty="0"/>
              <a:t>VIABILITY</a:t>
            </a:r>
          </a:p>
        </p:txBody>
      </p:sp>
      <p:sp>
        <p:nvSpPr>
          <p:cNvPr id="9" name="object 9"/>
          <p:cNvSpPr txBox="1"/>
          <p:nvPr/>
        </p:nvSpPr>
        <p:spPr>
          <a:xfrm>
            <a:off x="171578" y="733618"/>
            <a:ext cx="5721985" cy="5875968"/>
          </a:xfrm>
          <a:prstGeom prst="rect">
            <a:avLst/>
          </a:prstGeom>
        </p:spPr>
        <p:txBody>
          <a:bodyPr vert="horz" wrap="square" lIns="0" tIns="12700" rIns="0" bIns="0" rtlCol="0">
            <a:spAutoFit/>
          </a:bodyPr>
          <a:lstStyle/>
          <a:p>
            <a:pPr marL="12700">
              <a:lnSpc>
                <a:spcPct val="100000"/>
              </a:lnSpc>
              <a:spcBef>
                <a:spcPts val="100"/>
              </a:spcBef>
            </a:pPr>
            <a:r>
              <a:rPr b="1" spc="-10" dirty="0">
                <a:solidFill>
                  <a:srgbClr val="1F487C"/>
                </a:solidFill>
                <a:latin typeface="Times New Roman"/>
                <a:cs typeface="Times New Roman"/>
              </a:rPr>
              <a:t>Feasibility</a:t>
            </a:r>
            <a:endParaRPr lang="en-US" b="1" spc="-10" dirty="0">
              <a:solidFill>
                <a:srgbClr val="1F487C"/>
              </a:solidFill>
              <a:latin typeface="Times New Roman"/>
              <a:cs typeface="Times New Roman"/>
            </a:endParaRP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Low-Cost Smart Nodes:</a:t>
            </a:r>
            <a:r>
              <a:rPr lang="en-IN" sz="1500" dirty="0">
                <a:latin typeface="Times New Roman" panose="02020603050405020304" pitchFamily="18" charset="0"/>
                <a:cs typeface="Times New Roman" panose="02020603050405020304" pitchFamily="18" charset="0"/>
              </a:rPr>
              <a:t> Uses ESP32, LoRa, MEMS sensors, simple crack strips and locally available components.</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Modular Surface Deployment:</a:t>
            </a:r>
            <a:r>
              <a:rPr lang="en-IN" sz="1500" dirty="0">
                <a:latin typeface="Times New Roman" panose="02020603050405020304" pitchFamily="18" charset="0"/>
                <a:cs typeface="Times New Roman" panose="02020603050405020304" pitchFamily="18" charset="0"/>
              </a:rPr>
              <a:t> Nodes can be placed above high-risk panels and expanded as monitoring coverage grows.</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Safe Lab-Based Demonstration:</a:t>
            </a:r>
            <a:r>
              <a:rPr lang="en-IN" sz="1500" dirty="0">
                <a:latin typeface="Times New Roman" panose="02020603050405020304" pitchFamily="18" charset="0"/>
                <a:cs typeface="Times New Roman" panose="02020603050405020304" pitchFamily="18" charset="0"/>
              </a:rPr>
              <a:t> Controlled terrain flaps, displacement rigs, crack strips and water pockets simulate progressive subsidence safely.</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Offline-First Architecture:</a:t>
            </a:r>
            <a:r>
              <a:rPr lang="en-IN" sz="1500" dirty="0">
                <a:latin typeface="Times New Roman" panose="02020603050405020304" pitchFamily="18" charset="0"/>
                <a:cs typeface="Times New Roman" panose="02020603050405020304" pitchFamily="18" charset="0"/>
              </a:rPr>
              <a:t> Gateway stores data and events locally; cloud synchronization occurs whenever connectivity returns.</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Adaptive Power Management:</a:t>
            </a:r>
            <a:r>
              <a:rPr lang="en-IN" sz="1500" dirty="0">
                <a:latin typeface="Times New Roman" panose="02020603050405020304" pitchFamily="18" charset="0"/>
                <a:cs typeface="Times New Roman" panose="02020603050405020304" pitchFamily="18" charset="0"/>
              </a:rPr>
              <a:t> Sensor nodes remain in deep sleep during stable conditions and increase sampling during abnormal movement.</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Scalable Prototype:</a:t>
            </a:r>
            <a:r>
              <a:rPr lang="en-IN" sz="1500" dirty="0">
                <a:latin typeface="Times New Roman" panose="02020603050405020304" pitchFamily="18" charset="0"/>
                <a:cs typeface="Times New Roman" panose="02020603050405020304" pitchFamily="18" charset="0"/>
              </a:rPr>
              <a:t> Four/five nodes, one gateway, one relay path and one worker tag demonstrate the complete mine-safety workflow.</a:t>
            </a:r>
          </a:p>
          <a:p>
            <a:pPr lvl="0"/>
            <a:endParaRPr lang="en-IN" sz="1400" dirty="0"/>
          </a:p>
          <a:p>
            <a:pPr lvl="0"/>
            <a:r>
              <a:rPr b="1" spc="-10" dirty="0">
                <a:solidFill>
                  <a:srgbClr val="1F487C"/>
                </a:solidFill>
                <a:latin typeface="Times New Roman"/>
                <a:cs typeface="Times New Roman"/>
              </a:rPr>
              <a:t>Challenges</a:t>
            </a:r>
            <a:endParaRPr lang="en-US" b="1" spc="-10" dirty="0">
              <a:solidFill>
                <a:srgbClr val="1F487C"/>
              </a:solidFill>
              <a:latin typeface="Times New Roman"/>
              <a:cs typeface="Times New Roman"/>
            </a:endParaRP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Ground behaviour </a:t>
            </a:r>
            <a:r>
              <a:rPr lang="en-IN" sz="1500" dirty="0">
                <a:latin typeface="Times New Roman" panose="02020603050405020304" pitchFamily="18" charset="0"/>
                <a:cs typeface="Times New Roman" panose="02020603050405020304" pitchFamily="18" charset="0"/>
              </a:rPr>
              <a:t>changes with geology, rainfall, overburden and mining activity.</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MEMS sensor drift</a:t>
            </a:r>
            <a:r>
              <a:rPr lang="en-IN" sz="1500" dirty="0">
                <a:latin typeface="Times New Roman" panose="02020603050405020304" pitchFamily="18" charset="0"/>
                <a:cs typeface="Times New Roman" panose="02020603050405020304" pitchFamily="18" charset="0"/>
              </a:rPr>
              <a:t> requires baseline calibration and filtering.</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LoRa performance </a:t>
            </a:r>
            <a:r>
              <a:rPr lang="en-IN" sz="1500" dirty="0">
                <a:latin typeface="Times New Roman" panose="02020603050405020304" pitchFamily="18" charset="0"/>
                <a:cs typeface="Times New Roman" panose="02020603050405020304" pitchFamily="18" charset="0"/>
              </a:rPr>
              <a:t>can reduce because of terrain obstruction or relay failure.</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Route recommendations need certified mine maps</a:t>
            </a:r>
            <a:r>
              <a:rPr lang="en-IN" sz="1500" dirty="0">
                <a:latin typeface="Times New Roman" panose="02020603050405020304" pitchFamily="18" charset="0"/>
                <a:cs typeface="Times New Roman" panose="02020603050405020304" pitchFamily="18" charset="0"/>
              </a:rPr>
              <a:t> before real field deployment.</a:t>
            </a:r>
          </a:p>
          <a:p>
            <a:pPr lvl="0"/>
            <a:endParaRPr sz="1600" dirty="0">
              <a:latin typeface="Times New Roman"/>
              <a:cs typeface="Times New Roman"/>
            </a:endParaRPr>
          </a:p>
        </p:txBody>
      </p:sp>
      <p:sp>
        <p:nvSpPr>
          <p:cNvPr id="8" name="object 8"/>
          <p:cNvSpPr txBox="1"/>
          <p:nvPr/>
        </p:nvSpPr>
        <p:spPr>
          <a:xfrm>
            <a:off x="6231507" y="745097"/>
            <a:ext cx="5813425" cy="5768246"/>
          </a:xfrm>
          <a:prstGeom prst="rect">
            <a:avLst/>
          </a:prstGeom>
        </p:spPr>
        <p:txBody>
          <a:bodyPr vert="horz" wrap="square" lIns="0" tIns="12700" rIns="0" bIns="0" rtlCol="0">
            <a:spAutoFit/>
          </a:bodyPr>
          <a:lstStyle/>
          <a:p>
            <a:pPr marL="43815">
              <a:lnSpc>
                <a:spcPct val="100000"/>
              </a:lnSpc>
              <a:spcBef>
                <a:spcPts val="100"/>
              </a:spcBef>
            </a:pPr>
            <a:r>
              <a:rPr lang="en-IN" sz="1800" b="1" spc="-10" dirty="0">
                <a:solidFill>
                  <a:srgbClr val="1F487C"/>
                </a:solidFill>
                <a:latin typeface="Times New Roman"/>
                <a:cs typeface="Times New Roman"/>
              </a:rPr>
              <a:t>Commercial</a:t>
            </a:r>
            <a:r>
              <a:rPr lang="en-IN" sz="1800" b="1" spc="-25" dirty="0">
                <a:solidFill>
                  <a:srgbClr val="1F487C"/>
                </a:solidFill>
                <a:latin typeface="Times New Roman"/>
                <a:cs typeface="Times New Roman"/>
              </a:rPr>
              <a:t> </a:t>
            </a:r>
            <a:r>
              <a:rPr lang="en-IN" sz="1800" b="1" spc="-10" dirty="0">
                <a:solidFill>
                  <a:srgbClr val="1F487C"/>
                </a:solidFill>
                <a:latin typeface="Times New Roman"/>
                <a:cs typeface="Times New Roman"/>
              </a:rPr>
              <a:t>feasibility</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Provides continuous trend visibility to complement </a:t>
            </a:r>
            <a:r>
              <a:rPr lang="en-IN" sz="1500" b="1" dirty="0">
                <a:latin typeface="Times New Roman" panose="02020603050405020304" pitchFamily="18" charset="0"/>
                <a:cs typeface="Times New Roman" panose="02020603050405020304" pitchFamily="18" charset="0"/>
              </a:rPr>
              <a:t>periodic manual inspection and survey</a:t>
            </a:r>
            <a:r>
              <a:rPr lang="en-IN" sz="150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Uses </a:t>
            </a:r>
            <a:r>
              <a:rPr lang="en-IN" sz="1500" b="1" dirty="0">
                <a:latin typeface="Times New Roman" panose="02020603050405020304" pitchFamily="18" charset="0"/>
                <a:cs typeface="Times New Roman" panose="02020603050405020304" pitchFamily="18" charset="0"/>
              </a:rPr>
              <a:t>modular, maintainable electronics </a:t>
            </a:r>
            <a:r>
              <a:rPr lang="en-IN" sz="1500" dirty="0">
                <a:latin typeface="Times New Roman" panose="02020603050405020304" pitchFamily="18" charset="0"/>
                <a:cs typeface="Times New Roman" panose="02020603050405020304" pitchFamily="18" charset="0"/>
              </a:rPr>
              <a:t>rather than only expensive centralized hardware.</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Enables phased adoption: </a:t>
            </a:r>
            <a:r>
              <a:rPr lang="en-IN" sz="1500" dirty="0">
                <a:latin typeface="Times New Roman" panose="02020603050405020304" pitchFamily="18" charset="0"/>
                <a:cs typeface="Times New Roman" panose="02020603050405020304" pitchFamily="18" charset="0"/>
              </a:rPr>
              <a:t>deploy first in high-risk surface zones, then expand node density.</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Supports local maintenance, </a:t>
            </a:r>
            <a:r>
              <a:rPr lang="en-IN" sz="1500" b="1" dirty="0">
                <a:latin typeface="Times New Roman" panose="02020603050405020304" pitchFamily="18" charset="0"/>
                <a:cs typeface="Times New Roman" panose="02020603050405020304" pitchFamily="18" charset="0"/>
              </a:rPr>
              <a:t>future solar integration </a:t>
            </a:r>
            <a:r>
              <a:rPr lang="en-IN" sz="1500" dirty="0">
                <a:latin typeface="Times New Roman" panose="02020603050405020304" pitchFamily="18" charset="0"/>
                <a:cs typeface="Times New Roman" panose="02020603050405020304" pitchFamily="18" charset="0"/>
              </a:rPr>
              <a:t>and indigenous customization.</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Can integrate with </a:t>
            </a:r>
            <a:r>
              <a:rPr lang="en-IN" sz="1500" b="1" dirty="0">
                <a:latin typeface="Times New Roman" panose="02020603050405020304" pitchFamily="18" charset="0"/>
                <a:cs typeface="Times New Roman" panose="02020603050405020304" pitchFamily="18" charset="0"/>
              </a:rPr>
              <a:t>mine plans, survey data </a:t>
            </a:r>
            <a:r>
              <a:rPr lang="en-IN" sz="1500" dirty="0">
                <a:latin typeface="Times New Roman" panose="02020603050405020304" pitchFamily="18" charset="0"/>
                <a:cs typeface="Times New Roman" panose="02020603050405020304" pitchFamily="18" charset="0"/>
              </a:rPr>
              <a:t>and approved emergency-response procedures.</a:t>
            </a:r>
          </a:p>
          <a:p>
            <a:pPr marL="285750" lvl="0" indent="-285750">
              <a:buFont typeface="Arial" panose="020B0604020202020204" pitchFamily="34" charset="0"/>
              <a:buChar char="•"/>
            </a:pPr>
            <a:endParaRPr lang="en-IN" sz="1500" dirty="0">
              <a:latin typeface="Times New Roman" panose="02020603050405020304" pitchFamily="18" charset="0"/>
              <a:cs typeface="Times New Roman" panose="02020603050405020304" pitchFamily="18" charset="0"/>
            </a:endParaRPr>
          </a:p>
          <a:p>
            <a:r>
              <a:rPr lang="en-IN" b="1" spc="-10" dirty="0">
                <a:solidFill>
                  <a:srgbClr val="1F487C"/>
                </a:solidFill>
                <a:latin typeface="Times New Roman"/>
                <a:cs typeface="Times New Roman"/>
              </a:rPr>
              <a:t>Strategy:</a:t>
            </a:r>
            <a:endParaRPr lang="en-IN" dirty="0">
              <a:latin typeface="Times New Roman"/>
              <a:cs typeface="Times New Roman"/>
            </a:endParaRP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Fuse </a:t>
            </a:r>
            <a:r>
              <a:rPr lang="en-IN" sz="1500" b="1" dirty="0">
                <a:latin typeface="Times New Roman" panose="02020603050405020304" pitchFamily="18" charset="0"/>
                <a:cs typeface="Times New Roman" panose="02020603050405020304" pitchFamily="18" charset="0"/>
              </a:rPr>
              <a:t>tilt, vibration, displacement, crack and moisture </a:t>
            </a:r>
            <a:r>
              <a:rPr lang="en-IN" sz="1500" dirty="0">
                <a:latin typeface="Times New Roman" panose="02020603050405020304" pitchFamily="18" charset="0"/>
                <a:cs typeface="Times New Roman" panose="02020603050405020304" pitchFamily="18" charset="0"/>
              </a:rPr>
              <a:t>context for reliable decisions.</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Use </a:t>
            </a:r>
            <a:r>
              <a:rPr lang="en-IN" sz="1500" b="1" dirty="0">
                <a:latin typeface="Times New Roman" panose="02020603050405020304" pitchFamily="18" charset="0"/>
                <a:cs typeface="Times New Roman" panose="02020603050405020304" pitchFamily="18" charset="0"/>
              </a:rPr>
              <a:t>trend persistence and neighbouring-node agreement </a:t>
            </a:r>
            <a:r>
              <a:rPr lang="en-IN" sz="1500" dirty="0">
                <a:latin typeface="Times New Roman" panose="02020603050405020304" pitchFamily="18" charset="0"/>
                <a:cs typeface="Times New Roman" panose="02020603050405020304" pitchFamily="18" charset="0"/>
              </a:rPr>
              <a:t>to reduce false alarms.</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Monitor </a:t>
            </a:r>
            <a:r>
              <a:rPr lang="en-IN" sz="1500" b="1" dirty="0">
                <a:latin typeface="Times New Roman" panose="02020603050405020304" pitchFamily="18" charset="0"/>
                <a:cs typeface="Times New Roman" panose="02020603050405020304" pitchFamily="18" charset="0"/>
              </a:rPr>
              <a:t>RSSI, packet delivery and retry status </a:t>
            </a:r>
            <a:r>
              <a:rPr lang="en-IN" sz="1500" dirty="0">
                <a:latin typeface="Times New Roman" panose="02020603050405020304" pitchFamily="18" charset="0"/>
                <a:cs typeface="Times New Roman" panose="02020603050405020304" pitchFamily="18" charset="0"/>
              </a:rPr>
              <a:t>to show mesh communication confidence.</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Apply </a:t>
            </a:r>
            <a:r>
              <a:rPr lang="en-IN" sz="1500" b="1" dirty="0">
                <a:latin typeface="Times New Roman" panose="02020603050405020304" pitchFamily="18" charset="0"/>
                <a:cs typeface="Times New Roman" panose="02020603050405020304" pitchFamily="18" charset="0"/>
              </a:rPr>
              <a:t>hysteresis</a:t>
            </a:r>
            <a:r>
              <a:rPr lang="en-IN" sz="1500" dirty="0">
                <a:latin typeface="Times New Roman" panose="02020603050405020304" pitchFamily="18" charset="0"/>
                <a:cs typeface="Times New Roman" panose="02020603050405020304" pitchFamily="18" charset="0"/>
              </a:rPr>
              <a:t> so the system reduces risk only after sustained stable readings.</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Calibrate thresholds with </a:t>
            </a:r>
            <a:r>
              <a:rPr lang="en-IN" sz="1500" b="1" dirty="0">
                <a:latin typeface="Times New Roman" panose="02020603050405020304" pitchFamily="18" charset="0"/>
                <a:cs typeface="Times New Roman" panose="02020603050405020304" pitchFamily="18" charset="0"/>
              </a:rPr>
              <a:t>mine-specific survey </a:t>
            </a:r>
            <a:r>
              <a:rPr lang="en-IN" sz="1500" dirty="0">
                <a:latin typeface="Times New Roman" panose="02020603050405020304" pitchFamily="18" charset="0"/>
                <a:cs typeface="Times New Roman" panose="02020603050405020304" pitchFamily="18" charset="0"/>
              </a:rPr>
              <a:t>records and geotechnical expertise.</a:t>
            </a:r>
          </a:p>
          <a:p>
            <a:pPr lvl="0"/>
            <a:endParaRPr lang="en-IN" sz="1500" dirty="0">
              <a:latin typeface="Times New Roman" panose="02020603050405020304" pitchFamily="18" charset="0"/>
              <a:cs typeface="Times New Roman" panose="02020603050405020304" pitchFamily="18" charset="0"/>
            </a:endParaRP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63500">
              <a:lnSpc>
                <a:spcPts val="1240"/>
              </a:lnSpc>
            </a:pPr>
            <a:fld id="{81D60167-4931-47E6-BA6A-407CBD079E47}" type="slidenum">
              <a:rPr spc="-50" dirty="0"/>
              <a:t>4</a:t>
            </a:fld>
            <a:endParaRPr spc="-50" dirty="0"/>
          </a:p>
        </p:txBody>
      </p:sp>
      <p:pic>
        <p:nvPicPr>
          <p:cNvPr id="10" name="Picture 9">
            <a:extLst>
              <a:ext uri="{FF2B5EF4-FFF2-40B4-BE49-F238E27FC236}">
                <a16:creationId xmlns:a16="http://schemas.microsoft.com/office/drawing/2014/main" id="{5B214BC9-CDE2-CB97-C932-C3AFE515F8BA}"/>
              </a:ext>
            </a:extLst>
          </p:cNvPr>
          <p:cNvPicPr>
            <a:picLocks noChangeAspect="1"/>
          </p:cNvPicPr>
          <p:nvPr/>
        </p:nvPicPr>
        <p:blipFill>
          <a:blip r:embed="rId4"/>
          <a:stretch>
            <a:fillRect/>
          </a:stretch>
        </p:blipFill>
        <p:spPr>
          <a:xfrm>
            <a:off x="10631973" y="3087"/>
            <a:ext cx="1436793" cy="6610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descr="$PPTXTitle"/>
          <p:cNvSpPr txBox="1">
            <a:spLocks noGrp="1"/>
          </p:cNvSpPr>
          <p:nvPr>
            <p:ph type="title"/>
          </p:nvPr>
        </p:nvSpPr>
        <p:spPr>
          <a:prstGeom prst="rect">
            <a:avLst/>
          </a:prstGeom>
        </p:spPr>
        <p:txBody>
          <a:bodyPr vert="horz" wrap="square" lIns="0" tIns="12065" rIns="0" bIns="0" rtlCol="0">
            <a:spAutoFit/>
          </a:bodyPr>
          <a:lstStyle/>
          <a:p>
            <a:pPr marL="668655">
              <a:lnSpc>
                <a:spcPct val="100000"/>
              </a:lnSpc>
              <a:spcBef>
                <a:spcPts val="95"/>
              </a:spcBef>
            </a:pPr>
            <a:r>
              <a:rPr spc="-55" dirty="0"/>
              <a:t>IMPACT</a:t>
            </a:r>
            <a:r>
              <a:rPr spc="-195" dirty="0"/>
              <a:t> </a:t>
            </a:r>
            <a:r>
              <a:rPr dirty="0"/>
              <a:t>AND</a:t>
            </a:r>
            <a:r>
              <a:rPr spc="-20" dirty="0"/>
              <a:t> </a:t>
            </a:r>
            <a:r>
              <a:rPr spc="-10" dirty="0"/>
              <a:t>BENEFITS</a:t>
            </a:r>
          </a:p>
        </p:txBody>
      </p:sp>
      <p:pic>
        <p:nvPicPr>
          <p:cNvPr id="6" name="object 6" descr="https://www.sih.gov.in/img1/SIH-Logo.png"/>
          <p:cNvPicPr/>
          <p:nvPr/>
        </p:nvPicPr>
        <p:blipFill>
          <a:blip r:embed="rId2" cstate="print"/>
          <a:stretch>
            <a:fillRect/>
          </a:stretch>
        </p:blipFill>
        <p:spPr>
          <a:xfrm>
            <a:off x="10819423" y="69807"/>
            <a:ext cx="1217318" cy="563952"/>
          </a:xfrm>
          <a:prstGeom prst="rect">
            <a:avLst/>
          </a:prstGeom>
        </p:spPr>
      </p:pic>
      <p:grpSp>
        <p:nvGrpSpPr>
          <p:cNvPr id="2" name="object 2"/>
          <p:cNvGrpSpPr/>
          <p:nvPr/>
        </p:nvGrpSpPr>
        <p:grpSpPr>
          <a:xfrm>
            <a:off x="0" y="699980"/>
            <a:ext cx="12185904" cy="46817"/>
            <a:chOff x="0" y="720525"/>
            <a:chExt cx="12192000" cy="168255"/>
          </a:xfrm>
        </p:grpSpPr>
        <p:pic>
          <p:nvPicPr>
            <p:cNvPr id="3" name="object 3"/>
            <p:cNvPicPr/>
            <p:nvPr/>
          </p:nvPicPr>
          <p:blipFill>
            <a:blip r:embed="rId3" cstate="print"/>
            <a:stretch>
              <a:fillRect/>
            </a:stretch>
          </p:blipFill>
          <p:spPr>
            <a:xfrm>
              <a:off x="0" y="720525"/>
              <a:ext cx="12192000" cy="168255"/>
            </a:xfrm>
            <a:prstGeom prst="rect">
              <a:avLst/>
            </a:prstGeom>
          </p:spPr>
        </p:pic>
        <p:sp>
          <p:nvSpPr>
            <p:cNvPr id="4" name="object 4"/>
            <p:cNvSpPr/>
            <p:nvPr/>
          </p:nvSpPr>
          <p:spPr>
            <a:xfrm>
              <a:off x="0" y="766747"/>
              <a:ext cx="12192000" cy="59642"/>
            </a:xfrm>
            <a:custGeom>
              <a:avLst/>
              <a:gdLst/>
              <a:ahLst/>
              <a:cxnLst/>
              <a:rect l="l" t="t" r="r" b="b"/>
              <a:pathLst>
                <a:path w="12192000" h="78740">
                  <a:moveTo>
                    <a:pt x="0" y="0"/>
                  </a:moveTo>
                  <a:lnTo>
                    <a:pt x="12191999" y="78612"/>
                  </a:lnTo>
                </a:path>
              </a:pathLst>
            </a:custGeom>
            <a:ln w="25400">
              <a:solidFill>
                <a:srgbClr val="4F81BC"/>
              </a:solidFill>
            </a:ln>
          </p:spPr>
          <p:txBody>
            <a:bodyPr wrap="square" lIns="0" tIns="0" rIns="0" bIns="0" rtlCol="0"/>
            <a:lstStyle/>
            <a:p>
              <a:endParaRPr dirty="0"/>
            </a:p>
          </p:txBody>
        </p:sp>
      </p:grpSp>
      <p:sp>
        <p:nvSpPr>
          <p:cNvPr id="7" name="object 7"/>
          <p:cNvSpPr txBox="1"/>
          <p:nvPr/>
        </p:nvSpPr>
        <p:spPr>
          <a:xfrm>
            <a:off x="139700" y="748393"/>
            <a:ext cx="6265545" cy="3313728"/>
          </a:xfrm>
          <a:prstGeom prst="rect">
            <a:avLst/>
          </a:prstGeom>
        </p:spPr>
        <p:txBody>
          <a:bodyPr vert="horz" wrap="square" lIns="0" tIns="50800" rIns="0" bIns="0" rtlCol="0">
            <a:spAutoFit/>
          </a:bodyPr>
          <a:lstStyle/>
          <a:p>
            <a:pPr marL="12700">
              <a:lnSpc>
                <a:spcPct val="100000"/>
              </a:lnSpc>
              <a:spcBef>
                <a:spcPts val="400"/>
              </a:spcBef>
            </a:pPr>
            <a:r>
              <a:rPr sz="1700" b="1" dirty="0">
                <a:solidFill>
                  <a:srgbClr val="1F487C"/>
                </a:solidFill>
                <a:latin typeface="Times New Roman"/>
                <a:cs typeface="Times New Roman"/>
              </a:rPr>
              <a:t>Direct</a:t>
            </a:r>
            <a:r>
              <a:rPr sz="1700" b="1" spc="-50" dirty="0">
                <a:solidFill>
                  <a:srgbClr val="1F487C"/>
                </a:solidFill>
                <a:latin typeface="Times New Roman"/>
                <a:cs typeface="Times New Roman"/>
              </a:rPr>
              <a:t> </a:t>
            </a:r>
            <a:r>
              <a:rPr sz="1700" b="1" dirty="0">
                <a:solidFill>
                  <a:srgbClr val="1F487C"/>
                </a:solidFill>
                <a:latin typeface="Times New Roman"/>
                <a:cs typeface="Times New Roman"/>
              </a:rPr>
              <a:t>Impact</a:t>
            </a:r>
            <a:r>
              <a:rPr sz="1700" b="1" spc="-40" dirty="0">
                <a:solidFill>
                  <a:srgbClr val="1F487C"/>
                </a:solidFill>
                <a:latin typeface="Times New Roman"/>
                <a:cs typeface="Times New Roman"/>
              </a:rPr>
              <a:t> </a:t>
            </a:r>
            <a:r>
              <a:rPr sz="1700" b="1" dirty="0">
                <a:solidFill>
                  <a:srgbClr val="1F487C"/>
                </a:solidFill>
                <a:latin typeface="Times New Roman"/>
                <a:cs typeface="Times New Roman"/>
              </a:rPr>
              <a:t>on</a:t>
            </a:r>
            <a:r>
              <a:rPr sz="1700" b="1" spc="-50" dirty="0">
                <a:solidFill>
                  <a:srgbClr val="1F487C"/>
                </a:solidFill>
                <a:latin typeface="Times New Roman"/>
                <a:cs typeface="Times New Roman"/>
              </a:rPr>
              <a:t> </a:t>
            </a:r>
            <a:r>
              <a:rPr sz="1700" b="1" spc="-25" dirty="0">
                <a:solidFill>
                  <a:srgbClr val="1F487C"/>
                </a:solidFill>
                <a:latin typeface="Times New Roman"/>
                <a:cs typeface="Times New Roman"/>
              </a:rPr>
              <a:t>Target</a:t>
            </a:r>
            <a:r>
              <a:rPr sz="1700" b="1" spc="-60" dirty="0">
                <a:solidFill>
                  <a:srgbClr val="1F487C"/>
                </a:solidFill>
                <a:latin typeface="Times New Roman"/>
                <a:cs typeface="Times New Roman"/>
              </a:rPr>
              <a:t> </a:t>
            </a:r>
            <a:r>
              <a:rPr sz="1700" b="1" spc="-10" dirty="0">
                <a:solidFill>
                  <a:srgbClr val="1F487C"/>
                </a:solidFill>
                <a:latin typeface="Times New Roman"/>
                <a:cs typeface="Times New Roman"/>
              </a:rPr>
              <a:t>Users</a:t>
            </a:r>
            <a:endParaRPr sz="1700" dirty="0">
              <a:latin typeface="Times New Roman"/>
              <a:cs typeface="Times New Roman"/>
            </a:endParaRP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Mine Workers:</a:t>
            </a:r>
            <a:r>
              <a:rPr lang="en-IN" sz="1500" dirty="0">
                <a:latin typeface="Times New Roman" panose="02020603050405020304" pitchFamily="18" charset="0"/>
                <a:cs typeface="Times New Roman" panose="02020603050405020304" pitchFamily="18" charset="0"/>
              </a:rPr>
              <a:t> Receive immediate physical warning through LoRa buzzer and flashing LED when near an affected zone.</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Safety Officers:</a:t>
            </a:r>
            <a:r>
              <a:rPr lang="en-IN" sz="1500" dirty="0">
                <a:latin typeface="Times New Roman" panose="02020603050405020304" pitchFamily="18" charset="0"/>
                <a:cs typeface="Times New Roman" panose="02020603050405020304" pitchFamily="18" charset="0"/>
              </a:rPr>
              <a:t> Monitor deformation trends, risk severity, worker status and alert delivery from one dashboard.</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Mine Managers:</a:t>
            </a:r>
            <a:r>
              <a:rPr lang="en-IN" sz="1500" dirty="0">
                <a:latin typeface="Times New Roman" panose="02020603050405020304" pitchFamily="18" charset="0"/>
                <a:cs typeface="Times New Roman" panose="02020603050405020304" pitchFamily="18" charset="0"/>
              </a:rPr>
              <a:t> Receive a clear area-level risk picture instead of disconnected sensor readings.</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Survey Teams:</a:t>
            </a:r>
            <a:r>
              <a:rPr lang="en-IN" sz="1500" dirty="0">
                <a:latin typeface="Times New Roman" panose="02020603050405020304" pitchFamily="18" charset="0"/>
                <a:cs typeface="Times New Roman" panose="02020603050405020304" pitchFamily="18" charset="0"/>
              </a:rPr>
              <a:t> Access continuous sensor trends that complement manual inspection and scheduled surveys.</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Emergency Teams:</a:t>
            </a:r>
            <a:r>
              <a:rPr lang="en-IN" sz="1500" dirty="0">
                <a:latin typeface="Times New Roman" panose="02020603050405020304" pitchFamily="18" charset="0"/>
                <a:cs typeface="Times New Roman" panose="02020603050405020304" pitchFamily="18" charset="0"/>
              </a:rPr>
              <a:t> Identify affected zones, route restrictions and worker-response status faster.</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Remote Mines:</a:t>
            </a:r>
            <a:r>
              <a:rPr lang="en-IN" sz="1500" dirty="0">
                <a:latin typeface="Times New Roman" panose="02020603050405020304" pitchFamily="18" charset="0"/>
                <a:cs typeface="Times New Roman" panose="02020603050405020304" pitchFamily="18" charset="0"/>
              </a:rPr>
              <a:t> Continue local monitoring and safety alerts even during unreliable internet connectivity.</a:t>
            </a:r>
          </a:p>
          <a:p>
            <a:pPr marL="285750" lvl="0" indent="-285750">
              <a:buFont typeface="Arial" panose="020B0604020202020204" pitchFamily="34" charset="0"/>
              <a:buChar char="•"/>
            </a:pPr>
            <a:endParaRPr lang="en-IN" sz="1500" dirty="0">
              <a:latin typeface="Times New Roman" panose="02020603050405020304" pitchFamily="18" charset="0"/>
              <a:cs typeface="Times New Roman" panose="02020603050405020304" pitchFamily="18" charset="0"/>
            </a:endParaRPr>
          </a:p>
        </p:txBody>
      </p:sp>
      <p:sp>
        <p:nvSpPr>
          <p:cNvPr id="8" name="object 8"/>
          <p:cNvSpPr txBox="1"/>
          <p:nvPr/>
        </p:nvSpPr>
        <p:spPr>
          <a:xfrm>
            <a:off x="6849364" y="744743"/>
            <a:ext cx="5336540" cy="2703304"/>
          </a:xfrm>
          <a:prstGeom prst="rect">
            <a:avLst/>
          </a:prstGeom>
        </p:spPr>
        <p:txBody>
          <a:bodyPr vert="horz" wrap="square" lIns="0" tIns="50800" rIns="0" bIns="0" rtlCol="0">
            <a:spAutoFit/>
          </a:bodyPr>
          <a:lstStyle/>
          <a:p>
            <a:pPr marL="12700">
              <a:lnSpc>
                <a:spcPct val="100000"/>
              </a:lnSpc>
              <a:spcBef>
                <a:spcPts val="400"/>
              </a:spcBef>
            </a:pPr>
            <a:r>
              <a:rPr sz="1700" b="1" dirty="0">
                <a:solidFill>
                  <a:srgbClr val="1F487C"/>
                </a:solidFill>
                <a:latin typeface="Times New Roman"/>
                <a:cs typeface="Times New Roman"/>
              </a:rPr>
              <a:t>Economic</a:t>
            </a:r>
            <a:r>
              <a:rPr sz="1700" b="1" spc="-40" dirty="0">
                <a:solidFill>
                  <a:srgbClr val="1F487C"/>
                </a:solidFill>
                <a:latin typeface="Times New Roman"/>
                <a:cs typeface="Times New Roman"/>
              </a:rPr>
              <a:t> </a:t>
            </a:r>
            <a:r>
              <a:rPr sz="1700" b="1" dirty="0">
                <a:solidFill>
                  <a:srgbClr val="1F487C"/>
                </a:solidFill>
                <a:latin typeface="Times New Roman"/>
                <a:cs typeface="Times New Roman"/>
              </a:rPr>
              <a:t>&amp;</a:t>
            </a:r>
            <a:r>
              <a:rPr sz="1700" b="1" spc="-35" dirty="0">
                <a:solidFill>
                  <a:srgbClr val="1F487C"/>
                </a:solidFill>
                <a:latin typeface="Times New Roman"/>
                <a:cs typeface="Times New Roman"/>
              </a:rPr>
              <a:t> </a:t>
            </a:r>
            <a:r>
              <a:rPr sz="1700" b="1" dirty="0">
                <a:solidFill>
                  <a:srgbClr val="1F487C"/>
                </a:solidFill>
                <a:latin typeface="Times New Roman"/>
                <a:cs typeface="Times New Roman"/>
              </a:rPr>
              <a:t>Strategic</a:t>
            </a:r>
            <a:r>
              <a:rPr sz="1700" b="1" spc="-25" dirty="0">
                <a:solidFill>
                  <a:srgbClr val="1F487C"/>
                </a:solidFill>
                <a:latin typeface="Times New Roman"/>
                <a:cs typeface="Times New Roman"/>
              </a:rPr>
              <a:t> </a:t>
            </a:r>
            <a:r>
              <a:rPr sz="1700" b="1" spc="-10" dirty="0">
                <a:solidFill>
                  <a:srgbClr val="1F487C"/>
                </a:solidFill>
                <a:latin typeface="Times New Roman"/>
                <a:cs typeface="Times New Roman"/>
              </a:rPr>
              <a:t>Benefits</a:t>
            </a:r>
            <a:endParaRPr lang="en-US" sz="1700" b="1" spc="-10" dirty="0">
              <a:solidFill>
                <a:srgbClr val="1F487C"/>
              </a:solidFill>
              <a:latin typeface="Times New Roman"/>
              <a:cs typeface="Times New Roman"/>
            </a:endParaRP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Adaptive </a:t>
            </a:r>
            <a:r>
              <a:rPr lang="en-IN" sz="1500" b="1" dirty="0">
                <a:latin typeface="Times New Roman" panose="02020603050405020304" pitchFamily="18" charset="0"/>
                <a:cs typeface="Times New Roman" panose="02020603050405020304" pitchFamily="18" charset="0"/>
              </a:rPr>
              <a:t>deep sleep reduces energy </a:t>
            </a:r>
            <a:r>
              <a:rPr lang="en-IN" sz="1500" dirty="0">
                <a:latin typeface="Times New Roman" panose="02020603050405020304" pitchFamily="18" charset="0"/>
                <a:cs typeface="Times New Roman" panose="02020603050405020304" pitchFamily="18" charset="0"/>
              </a:rPr>
              <a:t>use during stable periods.</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LoRa mesh </a:t>
            </a:r>
            <a:r>
              <a:rPr lang="en-IN" sz="1500" b="1" dirty="0">
                <a:latin typeface="Times New Roman" panose="02020603050405020304" pitchFamily="18" charset="0"/>
                <a:cs typeface="Times New Roman" panose="02020603050405020304" pitchFamily="18" charset="0"/>
              </a:rPr>
              <a:t>reduces wiring requirements </a:t>
            </a:r>
            <a:r>
              <a:rPr lang="en-IN" sz="1500" dirty="0">
                <a:latin typeface="Times New Roman" panose="02020603050405020304" pitchFamily="18" charset="0"/>
                <a:cs typeface="Times New Roman" panose="02020603050405020304" pitchFamily="18" charset="0"/>
              </a:rPr>
              <a:t>across distributed monitoring zones.</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Modular nodes allow </a:t>
            </a:r>
            <a:r>
              <a:rPr lang="en-IN" sz="1500" b="1" dirty="0">
                <a:latin typeface="Times New Roman" panose="02020603050405020304" pitchFamily="18" charset="0"/>
                <a:cs typeface="Times New Roman" panose="02020603050405020304" pitchFamily="18" charset="0"/>
              </a:rPr>
              <a:t>phased deployment in high-priority areas.</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Offline storage </a:t>
            </a:r>
            <a:r>
              <a:rPr lang="en-IN" sz="1500" dirty="0">
                <a:latin typeface="Times New Roman" panose="02020603050405020304" pitchFamily="18" charset="0"/>
                <a:cs typeface="Times New Roman" panose="02020603050405020304" pitchFamily="18" charset="0"/>
              </a:rPr>
              <a:t>preserves safety-event history during connectivity failures.</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Risk-aware routing </a:t>
            </a:r>
            <a:r>
              <a:rPr lang="en-IN" sz="1500" dirty="0">
                <a:latin typeface="Times New Roman" panose="02020603050405020304" pitchFamily="18" charset="0"/>
                <a:cs typeface="Times New Roman" panose="02020603050405020304" pitchFamily="18" charset="0"/>
              </a:rPr>
              <a:t>helps avoid unsafe deformation, crack and water-prone paths.</a:t>
            </a:r>
          </a:p>
          <a:p>
            <a:pPr marL="12700">
              <a:lnSpc>
                <a:spcPct val="100000"/>
              </a:lnSpc>
              <a:spcBef>
                <a:spcPts val="400"/>
              </a:spcBef>
            </a:pPr>
            <a:endParaRPr sz="1700" dirty="0">
              <a:latin typeface="Times New Roman"/>
              <a:cs typeface="Times New Roman"/>
            </a:endParaRPr>
          </a:p>
        </p:txBody>
      </p:sp>
      <p:pic>
        <p:nvPicPr>
          <p:cNvPr id="9" name="object 9"/>
          <p:cNvPicPr/>
          <p:nvPr/>
        </p:nvPicPr>
        <p:blipFill>
          <a:blip r:embed="rId4" cstate="print"/>
          <a:stretch>
            <a:fillRect/>
          </a:stretch>
        </p:blipFill>
        <p:spPr>
          <a:xfrm>
            <a:off x="7234428" y="3548367"/>
            <a:ext cx="4063491" cy="2708910"/>
          </a:xfrm>
          <a:prstGeom prst="rect">
            <a:avLst/>
          </a:prstGeom>
        </p:spPr>
      </p:pic>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63500">
              <a:lnSpc>
                <a:spcPts val="1240"/>
              </a:lnSpc>
            </a:pPr>
            <a:fld id="{81D60167-4931-47E6-BA6A-407CBD079E47}" type="slidenum">
              <a:rPr spc="-50" dirty="0"/>
              <a:t>5</a:t>
            </a:fld>
            <a:endParaRPr spc="-50" dirty="0"/>
          </a:p>
        </p:txBody>
      </p:sp>
      <p:sp>
        <p:nvSpPr>
          <p:cNvPr id="17" name="TextBox 16">
            <a:extLst>
              <a:ext uri="{FF2B5EF4-FFF2-40B4-BE49-F238E27FC236}">
                <a16:creationId xmlns:a16="http://schemas.microsoft.com/office/drawing/2014/main" id="{E144F530-6CC4-B70C-9F9C-110D326E2228}"/>
              </a:ext>
            </a:extLst>
          </p:cNvPr>
          <p:cNvSpPr txBox="1"/>
          <p:nvPr/>
        </p:nvSpPr>
        <p:spPr>
          <a:xfrm>
            <a:off x="0" y="3860852"/>
            <a:ext cx="6626352" cy="2693045"/>
          </a:xfrm>
          <a:prstGeom prst="rect">
            <a:avLst/>
          </a:prstGeom>
          <a:noFill/>
        </p:spPr>
        <p:txBody>
          <a:bodyPr wrap="square">
            <a:spAutoFit/>
          </a:bodyPr>
          <a:lstStyle/>
          <a:p>
            <a:pPr lvl="0"/>
            <a:r>
              <a:rPr lang="en-IN" sz="1700" b="1" dirty="0">
                <a:solidFill>
                  <a:srgbClr val="1F487C"/>
                </a:solidFill>
                <a:latin typeface="Times New Roman"/>
                <a:cs typeface="Times New Roman"/>
              </a:rPr>
              <a:t>Strategic</a:t>
            </a:r>
            <a:r>
              <a:rPr lang="en-IN" sz="1700" b="1" spc="-60" dirty="0">
                <a:solidFill>
                  <a:srgbClr val="1F487C"/>
                </a:solidFill>
                <a:latin typeface="Times New Roman"/>
                <a:cs typeface="Times New Roman"/>
              </a:rPr>
              <a:t> </a:t>
            </a:r>
            <a:r>
              <a:rPr lang="en-IN" sz="1700" b="1" spc="-10" dirty="0">
                <a:solidFill>
                  <a:srgbClr val="1F487C"/>
                </a:solidFill>
                <a:latin typeface="Times New Roman"/>
                <a:cs typeface="Times New Roman"/>
              </a:rPr>
              <a:t>Impact</a:t>
            </a:r>
          </a:p>
          <a:p>
            <a:pPr marL="285750" lvl="0"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Converts invisible surface deformation</a:t>
            </a:r>
            <a:r>
              <a:rPr lang="en-IN" sz="1500" dirty="0">
                <a:latin typeface="Times New Roman" panose="02020603050405020304" pitchFamily="18" charset="0"/>
                <a:cs typeface="Times New Roman" panose="02020603050405020304" pitchFamily="18" charset="0"/>
              </a:rPr>
              <a:t> into a visible and explainable risk zone.</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Connects </a:t>
            </a:r>
            <a:r>
              <a:rPr lang="en-IN" sz="1500" b="1" dirty="0">
                <a:latin typeface="Times New Roman" panose="02020603050405020304" pitchFamily="18" charset="0"/>
                <a:cs typeface="Times New Roman" panose="02020603050405020304" pitchFamily="18" charset="0"/>
              </a:rPr>
              <a:t>ground-monitoring intelligence </a:t>
            </a:r>
            <a:r>
              <a:rPr lang="en-IN" sz="1500" dirty="0">
                <a:latin typeface="Times New Roman" panose="02020603050405020304" pitchFamily="18" charset="0"/>
                <a:cs typeface="Times New Roman" panose="02020603050405020304" pitchFamily="18" charset="0"/>
              </a:rPr>
              <a:t>directly with worker safety response.</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Supports </a:t>
            </a:r>
            <a:r>
              <a:rPr lang="en-IN" sz="1500" b="1" dirty="0">
                <a:latin typeface="Times New Roman" panose="02020603050405020304" pitchFamily="18" charset="0"/>
                <a:cs typeface="Times New Roman" panose="02020603050405020304" pitchFamily="18" charset="0"/>
              </a:rPr>
              <a:t>proactive, data-driven mine safety </a:t>
            </a:r>
            <a:r>
              <a:rPr lang="en-IN" sz="1500" dirty="0">
                <a:latin typeface="Times New Roman" panose="02020603050405020304" pitchFamily="18" charset="0"/>
                <a:cs typeface="Times New Roman" panose="02020603050405020304" pitchFamily="18" charset="0"/>
              </a:rPr>
              <a:t>instead of waiting for visible damage.</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Creates a </a:t>
            </a:r>
            <a:r>
              <a:rPr lang="en-IN" sz="1500" b="1" dirty="0">
                <a:latin typeface="Times New Roman" panose="02020603050405020304" pitchFamily="18" charset="0"/>
                <a:cs typeface="Times New Roman" panose="02020603050405020304" pitchFamily="18" charset="0"/>
              </a:rPr>
              <a:t>reusable platform for mine-specific deformation </a:t>
            </a:r>
            <a:r>
              <a:rPr lang="en-IN" sz="1500" dirty="0">
                <a:latin typeface="Times New Roman" panose="02020603050405020304" pitchFamily="18" charset="0"/>
                <a:cs typeface="Times New Roman" panose="02020603050405020304" pitchFamily="18" charset="0"/>
              </a:rPr>
              <a:t>datasets and future predictive models.</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Supports </a:t>
            </a:r>
            <a:r>
              <a:rPr lang="en-IN" sz="1500" b="1" dirty="0">
                <a:latin typeface="Times New Roman" panose="02020603050405020304" pitchFamily="18" charset="0"/>
                <a:cs typeface="Times New Roman" panose="02020603050405020304" pitchFamily="18" charset="0"/>
              </a:rPr>
              <a:t>indigenous development of low-cost sensing</a:t>
            </a:r>
            <a:r>
              <a:rPr lang="en-IN" sz="1500" dirty="0">
                <a:latin typeface="Times New Roman" panose="02020603050405020304" pitchFamily="18" charset="0"/>
                <a:cs typeface="Times New Roman" panose="02020603050405020304" pitchFamily="18" charset="0"/>
              </a:rPr>
              <a:t>, communication and safety-dashboard technology.</a:t>
            </a:r>
          </a:p>
          <a:p>
            <a:pPr lvl="0"/>
            <a:endParaRPr lang="en-IN" sz="1700" dirty="0">
              <a:latin typeface="Times New Roman"/>
              <a:cs typeface="Times New Roman"/>
            </a:endParaRPr>
          </a:p>
        </p:txBody>
      </p:sp>
      <p:pic>
        <p:nvPicPr>
          <p:cNvPr id="19" name="Picture 18">
            <a:extLst>
              <a:ext uri="{FF2B5EF4-FFF2-40B4-BE49-F238E27FC236}">
                <a16:creationId xmlns:a16="http://schemas.microsoft.com/office/drawing/2014/main" id="{219140B7-7934-20B1-CFA5-14A2A0F57671}"/>
              </a:ext>
            </a:extLst>
          </p:cNvPr>
          <p:cNvPicPr>
            <a:picLocks noChangeAspect="1"/>
          </p:cNvPicPr>
          <p:nvPr/>
        </p:nvPicPr>
        <p:blipFill>
          <a:blip r:embed="rId5">
            <a:extLst>
              <a:ext uri="{28A0092B-C50C-407E-A947-70E740481C1C}">
                <a14:useLocalDpi xmlns:a14="http://schemas.microsoft.com/office/drawing/2010/main" val="0"/>
              </a:ext>
            </a:extLst>
          </a:blip>
          <a:srcRect r="2311"/>
          <a:stretch>
            <a:fillRect/>
          </a:stretch>
        </p:blipFill>
        <p:spPr>
          <a:xfrm>
            <a:off x="7225284" y="3276600"/>
            <a:ext cx="4500372" cy="3043783"/>
          </a:xfrm>
          <a:prstGeom prst="rect">
            <a:avLst/>
          </a:prstGeom>
        </p:spPr>
      </p:pic>
      <p:pic>
        <p:nvPicPr>
          <p:cNvPr id="11" name="Picture 10">
            <a:extLst>
              <a:ext uri="{FF2B5EF4-FFF2-40B4-BE49-F238E27FC236}">
                <a16:creationId xmlns:a16="http://schemas.microsoft.com/office/drawing/2014/main" id="{DD5095FC-153A-2088-79BE-165D7F26D9C5}"/>
              </a:ext>
            </a:extLst>
          </p:cNvPr>
          <p:cNvPicPr>
            <a:picLocks noChangeAspect="1"/>
          </p:cNvPicPr>
          <p:nvPr/>
        </p:nvPicPr>
        <p:blipFill>
          <a:blip r:embed="rId6"/>
          <a:stretch>
            <a:fillRect/>
          </a:stretch>
        </p:blipFill>
        <p:spPr>
          <a:xfrm>
            <a:off x="10631973" y="34685"/>
            <a:ext cx="1436793" cy="6610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descr="$PPTXTitle"/>
          <p:cNvSpPr txBox="1">
            <a:spLocks noGrp="1"/>
          </p:cNvSpPr>
          <p:nvPr>
            <p:ph type="title"/>
          </p:nvPr>
        </p:nvSpPr>
        <p:spPr>
          <a:xfrm>
            <a:off x="3429000" y="107117"/>
            <a:ext cx="5120893" cy="452120"/>
          </a:xfrm>
          <a:prstGeom prst="rect">
            <a:avLst/>
          </a:prstGeom>
        </p:spPr>
        <p:txBody>
          <a:bodyPr vert="horz" wrap="square" lIns="0" tIns="12065" rIns="0" bIns="0" rtlCol="0">
            <a:spAutoFit/>
          </a:bodyPr>
          <a:lstStyle/>
          <a:p>
            <a:pPr marL="1008380">
              <a:lnSpc>
                <a:spcPct val="100000"/>
              </a:lnSpc>
              <a:spcBef>
                <a:spcPts val="95"/>
              </a:spcBef>
            </a:pPr>
            <a:r>
              <a:rPr dirty="0"/>
              <a:t>Research</a:t>
            </a:r>
            <a:r>
              <a:rPr spc="-80" dirty="0"/>
              <a:t> </a:t>
            </a:r>
            <a:r>
              <a:rPr spc="-20" dirty="0"/>
              <a:t>and</a:t>
            </a:r>
            <a:r>
              <a:rPr spc="-160" dirty="0"/>
              <a:t> </a:t>
            </a:r>
            <a:r>
              <a:rPr spc="-10" dirty="0"/>
              <a:t>Analysis</a:t>
            </a:r>
          </a:p>
        </p:txBody>
      </p:sp>
      <p:pic>
        <p:nvPicPr>
          <p:cNvPr id="6" name="object 6" descr="https://www.sih.gov.in/img1/SIH-Logo.png"/>
          <p:cNvPicPr/>
          <p:nvPr/>
        </p:nvPicPr>
        <p:blipFill>
          <a:blip r:embed="rId2" cstate="print"/>
          <a:stretch>
            <a:fillRect/>
          </a:stretch>
        </p:blipFill>
        <p:spPr>
          <a:xfrm>
            <a:off x="10819423" y="69807"/>
            <a:ext cx="1217318" cy="563952"/>
          </a:xfrm>
          <a:prstGeom prst="rect">
            <a:avLst/>
          </a:prstGeom>
        </p:spPr>
      </p:pic>
      <p:sp>
        <p:nvSpPr>
          <p:cNvPr id="7" name="object 7"/>
          <p:cNvSpPr txBox="1"/>
          <p:nvPr/>
        </p:nvSpPr>
        <p:spPr>
          <a:xfrm>
            <a:off x="72139" y="760729"/>
            <a:ext cx="6097777" cy="6107441"/>
          </a:xfrm>
          <a:prstGeom prst="rect">
            <a:avLst/>
          </a:prstGeom>
        </p:spPr>
        <p:txBody>
          <a:bodyPr vert="horz" wrap="square" lIns="0" tIns="13335" rIns="0" bIns="0" rtlCol="0">
            <a:spAutoFit/>
          </a:bodyPr>
          <a:lstStyle/>
          <a:p>
            <a:pPr marL="12700">
              <a:lnSpc>
                <a:spcPct val="100000"/>
              </a:lnSpc>
              <a:spcBef>
                <a:spcPts val="105"/>
              </a:spcBef>
            </a:pPr>
            <a:r>
              <a:rPr sz="1700" b="1" dirty="0">
                <a:solidFill>
                  <a:srgbClr val="1F487C"/>
                </a:solidFill>
                <a:latin typeface="Times New Roman"/>
                <a:cs typeface="Times New Roman"/>
              </a:rPr>
              <a:t>Gap</a:t>
            </a:r>
            <a:r>
              <a:rPr sz="1700" b="1" spc="-30" dirty="0">
                <a:solidFill>
                  <a:srgbClr val="1F487C"/>
                </a:solidFill>
                <a:latin typeface="Times New Roman"/>
                <a:cs typeface="Times New Roman"/>
              </a:rPr>
              <a:t> </a:t>
            </a:r>
            <a:r>
              <a:rPr sz="1700" b="1" dirty="0">
                <a:solidFill>
                  <a:srgbClr val="1F487C"/>
                </a:solidFill>
                <a:latin typeface="Times New Roman"/>
                <a:cs typeface="Times New Roman"/>
              </a:rPr>
              <a:t>&amp;</a:t>
            </a:r>
            <a:r>
              <a:rPr sz="1700" b="1" spc="-40" dirty="0">
                <a:solidFill>
                  <a:srgbClr val="1F487C"/>
                </a:solidFill>
                <a:latin typeface="Times New Roman"/>
                <a:cs typeface="Times New Roman"/>
              </a:rPr>
              <a:t> </a:t>
            </a:r>
            <a:r>
              <a:rPr sz="1700" b="1" dirty="0">
                <a:solidFill>
                  <a:srgbClr val="1F487C"/>
                </a:solidFill>
                <a:latin typeface="Times New Roman"/>
                <a:cs typeface="Times New Roman"/>
              </a:rPr>
              <a:t>Problem</a:t>
            </a:r>
            <a:r>
              <a:rPr sz="1700" b="1" spc="-40" dirty="0">
                <a:solidFill>
                  <a:srgbClr val="1F487C"/>
                </a:solidFill>
                <a:latin typeface="Times New Roman"/>
                <a:cs typeface="Times New Roman"/>
              </a:rPr>
              <a:t> </a:t>
            </a:r>
            <a:r>
              <a:rPr sz="1700" b="1" spc="-10" dirty="0">
                <a:solidFill>
                  <a:srgbClr val="1F487C"/>
                </a:solidFill>
                <a:latin typeface="Times New Roman"/>
                <a:cs typeface="Times New Roman"/>
              </a:rPr>
              <a:t>Identification</a:t>
            </a:r>
            <a:endParaRPr sz="1700" dirty="0">
              <a:latin typeface="Times New Roman"/>
              <a:cs typeface="Times New Roman"/>
            </a:endParaRP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DGMS guidelines require structured strata monitoring, including instrumentation plans, monitoring schedules and documented readings for longwall panels. </a:t>
            </a:r>
            <a:r>
              <a:rPr lang="en-IN" sz="1600" dirty="0">
                <a:hlinkClick r:id="rId3"/>
              </a:rPr>
              <a:t>Link</a:t>
            </a:r>
            <a:endParaRPr lang="en-IN" sz="15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Progressive subsidence requires monitoring of </a:t>
            </a:r>
            <a:r>
              <a:rPr lang="en-IN" sz="1500" b="1" dirty="0">
                <a:latin typeface="Times New Roman" panose="02020603050405020304" pitchFamily="18" charset="0"/>
                <a:cs typeface="Times New Roman" panose="02020603050405020304" pitchFamily="18" charset="0"/>
              </a:rPr>
              <a:t>movement trend and spatial extent</a:t>
            </a:r>
            <a:r>
              <a:rPr lang="en-IN" sz="1500" dirty="0">
                <a:latin typeface="Times New Roman" panose="02020603050405020304" pitchFamily="18" charset="0"/>
                <a:cs typeface="Times New Roman" panose="02020603050405020304" pitchFamily="18" charset="0"/>
              </a:rPr>
              <a:t>, not only isolated point readings. </a:t>
            </a:r>
            <a:r>
              <a:rPr lang="en-IN" sz="1500" b="1" dirty="0">
                <a:latin typeface="Times New Roman" panose="02020603050405020304" pitchFamily="18" charset="0"/>
                <a:cs typeface="Times New Roman" panose="02020603050405020304" pitchFamily="18" charset="0"/>
                <a:hlinkClick r:id="rId3"/>
              </a:rPr>
              <a:t>Link</a:t>
            </a:r>
            <a:endParaRPr lang="en-IN" sz="15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400" spc="-50" dirty="0">
                <a:solidFill>
                  <a:schemeClr val="tx1"/>
                </a:solidFill>
                <a:uFill>
                  <a:solidFill>
                    <a:srgbClr val="1F487C"/>
                  </a:solidFill>
                </a:uFill>
                <a:latin typeface="Times New Roman" panose="02020603050405020304" pitchFamily="18" charset="0"/>
                <a:cs typeface="Times New Roman" panose="02020603050405020304" pitchFamily="18" charset="0"/>
              </a:rPr>
              <a:t>KHANRAKSHAK</a:t>
            </a:r>
            <a:r>
              <a:rPr lang="en-IN" sz="1500" dirty="0">
                <a:latin typeface="Times New Roman" panose="02020603050405020304" pitchFamily="18" charset="0"/>
                <a:cs typeface="Times New Roman" panose="02020603050405020304" pitchFamily="18" charset="0"/>
              </a:rPr>
              <a:t> addresses this gap through </a:t>
            </a:r>
            <a:r>
              <a:rPr lang="en-IN" sz="1500" b="1" dirty="0">
                <a:latin typeface="Times New Roman" panose="02020603050405020304" pitchFamily="18" charset="0"/>
                <a:cs typeface="Times New Roman" panose="02020603050405020304" pitchFamily="18" charset="0"/>
              </a:rPr>
              <a:t>multi-sensor sensing + neighbouring-node correlation + GIS risk zoning</a:t>
            </a:r>
            <a:r>
              <a:rPr lang="en-IN" sz="150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endParaRPr lang="en-IN" sz="1500" dirty="0">
              <a:latin typeface="Times New Roman" panose="02020603050405020304" pitchFamily="18" charset="0"/>
              <a:cs typeface="Times New Roman" panose="02020603050405020304" pitchFamily="18" charset="0"/>
            </a:endParaRPr>
          </a:p>
          <a:p>
            <a:pPr lvl="0"/>
            <a:r>
              <a:rPr sz="1700" b="1" dirty="0">
                <a:solidFill>
                  <a:srgbClr val="1F487C"/>
                </a:solidFill>
                <a:latin typeface="Times New Roman"/>
                <a:cs typeface="Times New Roman"/>
              </a:rPr>
              <a:t>Literature</a:t>
            </a:r>
            <a:r>
              <a:rPr sz="1700" b="1" spc="-15" dirty="0">
                <a:solidFill>
                  <a:srgbClr val="1F487C"/>
                </a:solidFill>
                <a:latin typeface="Times New Roman"/>
                <a:cs typeface="Times New Roman"/>
              </a:rPr>
              <a:t> </a:t>
            </a:r>
            <a:r>
              <a:rPr sz="1700" b="1" dirty="0">
                <a:solidFill>
                  <a:srgbClr val="1F487C"/>
                </a:solidFill>
                <a:latin typeface="Times New Roman"/>
                <a:cs typeface="Times New Roman"/>
              </a:rPr>
              <a:t>Survey</a:t>
            </a:r>
            <a:r>
              <a:rPr sz="1700" b="1" spc="-10" dirty="0">
                <a:solidFill>
                  <a:srgbClr val="1F487C"/>
                </a:solidFill>
                <a:latin typeface="Times New Roman"/>
                <a:cs typeface="Times New Roman"/>
              </a:rPr>
              <a:t> </a:t>
            </a:r>
            <a:r>
              <a:rPr sz="1700" b="1" dirty="0">
                <a:solidFill>
                  <a:srgbClr val="1F487C"/>
                </a:solidFill>
                <a:latin typeface="Times New Roman"/>
                <a:cs typeface="Times New Roman"/>
              </a:rPr>
              <a:t>&amp;</a:t>
            </a:r>
            <a:r>
              <a:rPr sz="1700" b="1" spc="5" dirty="0">
                <a:solidFill>
                  <a:srgbClr val="1F487C"/>
                </a:solidFill>
                <a:latin typeface="Times New Roman"/>
                <a:cs typeface="Times New Roman"/>
              </a:rPr>
              <a:t> </a:t>
            </a:r>
            <a:r>
              <a:rPr sz="1700" b="1" spc="-10" dirty="0">
                <a:solidFill>
                  <a:srgbClr val="1F487C"/>
                </a:solidFill>
                <a:latin typeface="Times New Roman"/>
                <a:cs typeface="Times New Roman"/>
              </a:rPr>
              <a:t>Competitive</a:t>
            </a:r>
            <a:r>
              <a:rPr sz="1700" b="1" spc="-105" dirty="0">
                <a:solidFill>
                  <a:srgbClr val="1F487C"/>
                </a:solidFill>
                <a:latin typeface="Times New Roman"/>
                <a:cs typeface="Times New Roman"/>
              </a:rPr>
              <a:t> </a:t>
            </a:r>
            <a:r>
              <a:rPr sz="1700" b="1" spc="-10" dirty="0">
                <a:solidFill>
                  <a:srgbClr val="1F487C"/>
                </a:solidFill>
                <a:latin typeface="Times New Roman"/>
                <a:cs typeface="Times New Roman"/>
              </a:rPr>
              <a:t>Analysis</a:t>
            </a:r>
            <a:endParaRPr lang="en-US" sz="1700" b="1" spc="-10" dirty="0">
              <a:solidFill>
                <a:srgbClr val="1F487C"/>
              </a:solidFill>
              <a:latin typeface="Times New Roman"/>
              <a:cs typeface="Times New Roman"/>
            </a:endParaRPr>
          </a:p>
          <a:p>
            <a:pPr marL="285750" indent="-285750">
              <a:buFont typeface="Arial" panose="020B0604020202020204" pitchFamily="34" charset="0"/>
              <a:buChar char="•"/>
            </a:pPr>
            <a:r>
              <a:rPr lang="en-IN" sz="1500" dirty="0"/>
              <a:t>Traditional monitoring uses instruments such as convergence indicators, load cells and periodic subsidence surveys. </a:t>
            </a:r>
            <a:r>
              <a:rPr lang="en-IN" sz="1500" b="1" dirty="0">
                <a:hlinkClick r:id="rId3"/>
              </a:rPr>
              <a:t>Link</a:t>
            </a:r>
            <a:r>
              <a:rPr lang="en-IN" sz="1500" b="1" dirty="0"/>
              <a:t> </a:t>
            </a:r>
            <a:r>
              <a:rPr lang="en-IN" sz="1500" b="1" dirty="0">
                <a:hlinkClick r:id="rId4"/>
              </a:rPr>
              <a:t>Link</a:t>
            </a:r>
            <a:endParaRPr lang="en-IN" sz="1500" dirty="0"/>
          </a:p>
          <a:p>
            <a:pPr marL="285750" lvl="0" indent="-285750">
              <a:buFont typeface="Arial" panose="020B0604020202020204" pitchFamily="34" charset="0"/>
              <a:buChar char="•"/>
            </a:pPr>
            <a:r>
              <a:rPr lang="en-IN" sz="1500" dirty="0"/>
              <a:t>Existing systems may monitor physical parameters, but BHUMIRAKSHAK adds a complete chain: </a:t>
            </a:r>
            <a:r>
              <a:rPr lang="en-IN" sz="1500" b="1" dirty="0"/>
              <a:t>deformation → spatial risk → worker alert → safer response</a:t>
            </a:r>
            <a:r>
              <a:rPr lang="en-IN" sz="1500" dirty="0"/>
              <a:t>.</a:t>
            </a:r>
          </a:p>
          <a:p>
            <a:pPr marL="285750" lvl="0" indent="-285750">
              <a:buFont typeface="Arial" panose="020B0604020202020204" pitchFamily="34" charset="0"/>
              <a:buChar char="•"/>
            </a:pPr>
            <a:r>
              <a:rPr lang="en-IN" sz="1500" dirty="0"/>
              <a:t>The system combines </a:t>
            </a:r>
            <a:r>
              <a:rPr lang="en-IN" sz="1500" b="1" dirty="0"/>
              <a:t>surface sensors, LoRa mesh, edge intelligence, GIS and worker-warning hardware</a:t>
            </a:r>
            <a:r>
              <a:rPr lang="en-IN" sz="1500" dirty="0"/>
              <a:t> in one prototype.</a:t>
            </a:r>
          </a:p>
          <a:p>
            <a:pPr marL="285750" lvl="0" indent="-285750">
              <a:buFont typeface="Arial" panose="020B0604020202020204" pitchFamily="34" charset="0"/>
              <a:buChar char="•"/>
            </a:pPr>
            <a:endParaRPr lang="en-IN" sz="1500" dirty="0"/>
          </a:p>
          <a:p>
            <a:r>
              <a:rPr lang="en-US" sz="1600" b="1" dirty="0">
                <a:solidFill>
                  <a:srgbClr val="1F487C"/>
                </a:solidFill>
                <a:latin typeface="Times New Roman"/>
                <a:cs typeface="Times New Roman"/>
              </a:rPr>
              <a:t>Economic</a:t>
            </a:r>
            <a:r>
              <a:rPr lang="en-US" sz="1600" b="1" spc="-30" dirty="0">
                <a:solidFill>
                  <a:srgbClr val="1F487C"/>
                </a:solidFill>
                <a:latin typeface="Times New Roman"/>
                <a:cs typeface="Times New Roman"/>
              </a:rPr>
              <a:t> </a:t>
            </a:r>
            <a:r>
              <a:rPr lang="en-US" sz="1600" b="1" dirty="0">
                <a:solidFill>
                  <a:srgbClr val="1F487C"/>
                </a:solidFill>
                <a:latin typeface="Times New Roman"/>
                <a:cs typeface="Times New Roman"/>
              </a:rPr>
              <a:t>&amp;</a:t>
            </a:r>
            <a:r>
              <a:rPr lang="en-US" sz="1600" b="1" spc="-20" dirty="0">
                <a:solidFill>
                  <a:srgbClr val="1F487C"/>
                </a:solidFill>
                <a:latin typeface="Times New Roman"/>
                <a:cs typeface="Times New Roman"/>
              </a:rPr>
              <a:t> </a:t>
            </a:r>
            <a:r>
              <a:rPr lang="en-US" sz="1600" b="1" dirty="0">
                <a:solidFill>
                  <a:srgbClr val="1F487C"/>
                </a:solidFill>
                <a:latin typeface="Times New Roman"/>
                <a:cs typeface="Times New Roman"/>
              </a:rPr>
              <a:t>Strategic</a:t>
            </a:r>
            <a:r>
              <a:rPr lang="en-US" sz="1600" b="1" spc="-15" dirty="0">
                <a:solidFill>
                  <a:srgbClr val="1F487C"/>
                </a:solidFill>
                <a:latin typeface="Times New Roman"/>
                <a:cs typeface="Times New Roman"/>
              </a:rPr>
              <a:t> </a:t>
            </a:r>
            <a:r>
              <a:rPr lang="en-US" sz="1600" b="1" spc="-10" dirty="0">
                <a:solidFill>
                  <a:srgbClr val="1F487C"/>
                </a:solidFill>
                <a:latin typeface="Times New Roman"/>
                <a:cs typeface="Times New Roman"/>
              </a:rPr>
              <a:t>Landscape</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Supports India’s growing focus on real-time safety reporting, digital monitoring and rapid mitigation. </a:t>
            </a:r>
            <a:r>
              <a:rPr lang="en-IN" sz="1500" b="1" dirty="0">
                <a:latin typeface="Times New Roman" panose="02020603050405020304" pitchFamily="18" charset="0"/>
                <a:cs typeface="Times New Roman" panose="02020603050405020304" pitchFamily="18" charset="0"/>
                <a:hlinkClick r:id="rId5"/>
              </a:rPr>
              <a:t>Link</a:t>
            </a:r>
            <a:endParaRPr lang="en-IN" sz="15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Low-cost, modular and indigenous architecture enables phased mine deployment.</a:t>
            </a:r>
          </a:p>
          <a:p>
            <a:pPr lvl="0"/>
            <a:endParaRPr lang="en-IN" sz="1500" dirty="0"/>
          </a:p>
          <a:p>
            <a:pPr lvl="0"/>
            <a:endParaRPr lang="en-IN" sz="1500" dirty="0"/>
          </a:p>
        </p:txBody>
      </p:sp>
      <p:sp>
        <p:nvSpPr>
          <p:cNvPr id="8" name="object 8"/>
          <p:cNvSpPr txBox="1"/>
          <p:nvPr/>
        </p:nvSpPr>
        <p:spPr>
          <a:xfrm>
            <a:off x="6261986" y="716732"/>
            <a:ext cx="5857875" cy="5768887"/>
          </a:xfrm>
          <a:prstGeom prst="rect">
            <a:avLst/>
          </a:prstGeom>
        </p:spPr>
        <p:txBody>
          <a:bodyPr vert="horz" wrap="square" lIns="0" tIns="13335" rIns="0" bIns="0" rtlCol="0">
            <a:spAutoFit/>
          </a:bodyPr>
          <a:lstStyle/>
          <a:p>
            <a:pPr marL="12700">
              <a:spcBef>
                <a:spcPts val="105"/>
              </a:spcBef>
            </a:pPr>
            <a:r>
              <a:rPr lang="en-IN" sz="1700" b="1" spc="-10" dirty="0">
                <a:solidFill>
                  <a:srgbClr val="1F487C"/>
                </a:solidFill>
                <a:latin typeface="Times New Roman"/>
                <a:cs typeface="Times New Roman"/>
              </a:rPr>
              <a:t>Technology</a:t>
            </a:r>
            <a:r>
              <a:rPr lang="en-IN" sz="1700" b="1" spc="-95" dirty="0">
                <a:solidFill>
                  <a:srgbClr val="1F487C"/>
                </a:solidFill>
                <a:latin typeface="Times New Roman"/>
                <a:cs typeface="Times New Roman"/>
              </a:rPr>
              <a:t> </a:t>
            </a:r>
            <a:r>
              <a:rPr lang="en-IN" sz="1700" b="1" spc="-10" dirty="0">
                <a:solidFill>
                  <a:srgbClr val="1F487C"/>
                </a:solidFill>
                <a:latin typeface="Times New Roman"/>
                <a:cs typeface="Times New Roman"/>
              </a:rPr>
              <a:t>Benchmarking</a:t>
            </a:r>
          </a:p>
          <a:p>
            <a:pPr>
              <a:lnSpc>
                <a:spcPct val="100000"/>
              </a:lnSpc>
              <a:spcBef>
                <a:spcPts val="295"/>
              </a:spcBef>
            </a:pPr>
            <a:endParaRPr lang="en-US" sz="1700" dirty="0">
              <a:latin typeface="Times New Roman"/>
              <a:cs typeface="Times New Roman"/>
            </a:endParaRPr>
          </a:p>
          <a:p>
            <a:pPr>
              <a:lnSpc>
                <a:spcPct val="100000"/>
              </a:lnSpc>
              <a:spcBef>
                <a:spcPts val="295"/>
              </a:spcBef>
            </a:pPr>
            <a:endParaRPr lang="en-IN" sz="1700" dirty="0">
              <a:latin typeface="Times New Roman"/>
              <a:cs typeface="Times New Roman"/>
            </a:endParaRPr>
          </a:p>
          <a:p>
            <a:pPr>
              <a:lnSpc>
                <a:spcPct val="100000"/>
              </a:lnSpc>
              <a:spcBef>
                <a:spcPts val="295"/>
              </a:spcBef>
            </a:pPr>
            <a:endParaRPr lang="en-IN" sz="1700" dirty="0">
              <a:latin typeface="Times New Roman"/>
              <a:cs typeface="Times New Roman"/>
            </a:endParaRPr>
          </a:p>
          <a:p>
            <a:pPr>
              <a:lnSpc>
                <a:spcPct val="100000"/>
              </a:lnSpc>
              <a:spcBef>
                <a:spcPts val="295"/>
              </a:spcBef>
            </a:pPr>
            <a:endParaRPr lang="en-IN" sz="1700" dirty="0">
              <a:latin typeface="Times New Roman"/>
              <a:cs typeface="Times New Roman"/>
            </a:endParaRPr>
          </a:p>
          <a:p>
            <a:pPr>
              <a:lnSpc>
                <a:spcPct val="100000"/>
              </a:lnSpc>
              <a:spcBef>
                <a:spcPts val="295"/>
              </a:spcBef>
            </a:pPr>
            <a:endParaRPr lang="en-IN" sz="1700" dirty="0">
              <a:latin typeface="Times New Roman"/>
              <a:cs typeface="Times New Roman"/>
            </a:endParaRPr>
          </a:p>
          <a:p>
            <a:pPr>
              <a:lnSpc>
                <a:spcPct val="100000"/>
              </a:lnSpc>
              <a:spcBef>
                <a:spcPts val="295"/>
              </a:spcBef>
            </a:pPr>
            <a:endParaRPr lang="en-IN" sz="1700" dirty="0">
              <a:latin typeface="Times New Roman"/>
              <a:cs typeface="Times New Roman"/>
            </a:endParaRPr>
          </a:p>
          <a:p>
            <a:pPr>
              <a:lnSpc>
                <a:spcPct val="100000"/>
              </a:lnSpc>
              <a:spcBef>
                <a:spcPts val="295"/>
              </a:spcBef>
            </a:pPr>
            <a:endParaRPr lang="en-IN" sz="1700" dirty="0">
              <a:latin typeface="Times New Roman"/>
              <a:cs typeface="Times New Roman"/>
            </a:endParaRPr>
          </a:p>
          <a:p>
            <a:pPr>
              <a:lnSpc>
                <a:spcPct val="100000"/>
              </a:lnSpc>
              <a:spcBef>
                <a:spcPts val="295"/>
              </a:spcBef>
            </a:pPr>
            <a:endParaRPr lang="en-IN" sz="1700" dirty="0">
              <a:latin typeface="Times New Roman"/>
              <a:cs typeface="Times New Roman"/>
            </a:endParaRPr>
          </a:p>
          <a:p>
            <a:pPr marL="12700">
              <a:lnSpc>
                <a:spcPct val="100000"/>
              </a:lnSpc>
            </a:pPr>
            <a:r>
              <a:rPr lang="en-US" sz="1700" b="1" dirty="0">
                <a:solidFill>
                  <a:srgbClr val="1F487C"/>
                </a:solidFill>
                <a:latin typeface="Times New Roman"/>
                <a:cs typeface="Times New Roman"/>
              </a:rPr>
              <a:t> </a:t>
            </a:r>
            <a:r>
              <a:rPr sz="1700" b="1" dirty="0">
                <a:solidFill>
                  <a:srgbClr val="1F487C"/>
                </a:solidFill>
                <a:latin typeface="Times New Roman"/>
                <a:cs typeface="Times New Roman"/>
              </a:rPr>
              <a:t>Field</a:t>
            </a:r>
            <a:r>
              <a:rPr sz="1700" b="1" spc="-65" dirty="0">
                <a:solidFill>
                  <a:srgbClr val="1F487C"/>
                </a:solidFill>
                <a:latin typeface="Times New Roman"/>
                <a:cs typeface="Times New Roman"/>
              </a:rPr>
              <a:t> </a:t>
            </a:r>
            <a:r>
              <a:rPr sz="1700" b="1" spc="-25" dirty="0">
                <a:solidFill>
                  <a:srgbClr val="1F487C"/>
                </a:solidFill>
                <a:latin typeface="Times New Roman"/>
                <a:cs typeface="Times New Roman"/>
              </a:rPr>
              <a:t>Tests</a:t>
            </a:r>
            <a:r>
              <a:rPr sz="1700" b="1" spc="-40" dirty="0">
                <a:solidFill>
                  <a:srgbClr val="1F487C"/>
                </a:solidFill>
                <a:latin typeface="Times New Roman"/>
                <a:cs typeface="Times New Roman"/>
              </a:rPr>
              <a:t> </a:t>
            </a:r>
            <a:r>
              <a:rPr sz="1700" b="1" dirty="0">
                <a:solidFill>
                  <a:srgbClr val="1F487C"/>
                </a:solidFill>
                <a:latin typeface="Times New Roman"/>
                <a:cs typeface="Times New Roman"/>
              </a:rPr>
              <a:t>&amp;</a:t>
            </a:r>
            <a:r>
              <a:rPr sz="1700" b="1" spc="-45" dirty="0">
                <a:solidFill>
                  <a:srgbClr val="1F487C"/>
                </a:solidFill>
                <a:latin typeface="Times New Roman"/>
                <a:cs typeface="Times New Roman"/>
              </a:rPr>
              <a:t> </a:t>
            </a:r>
            <a:r>
              <a:rPr sz="1700" b="1" dirty="0">
                <a:solidFill>
                  <a:srgbClr val="1F487C"/>
                </a:solidFill>
                <a:latin typeface="Times New Roman"/>
                <a:cs typeface="Times New Roman"/>
              </a:rPr>
              <a:t>Simulation</a:t>
            </a:r>
            <a:r>
              <a:rPr sz="1700" b="1" spc="-20" dirty="0">
                <a:solidFill>
                  <a:srgbClr val="1F487C"/>
                </a:solidFill>
                <a:latin typeface="Times New Roman"/>
                <a:cs typeface="Times New Roman"/>
              </a:rPr>
              <a:t> </a:t>
            </a:r>
            <a:r>
              <a:rPr sz="1700" b="1" spc="-10" dirty="0">
                <a:solidFill>
                  <a:srgbClr val="1F487C"/>
                </a:solidFill>
                <a:latin typeface="Times New Roman"/>
                <a:cs typeface="Times New Roman"/>
              </a:rPr>
              <a:t>Results</a:t>
            </a:r>
            <a:endParaRPr lang="en-US" sz="1700" b="1" spc="-10" dirty="0">
              <a:solidFill>
                <a:srgbClr val="1F487C"/>
              </a:solidFill>
              <a:latin typeface="Times New Roman"/>
              <a:cs typeface="Times New Roman"/>
            </a:endParaRP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Terrain deformation → WATCH / WARNING escalation.</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Crack event + acceleration → CRITICAL alert.</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Moisture pocket → North Exit selected over low-elevation South Exit.</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LoRa worker tag → buzzer + LED + delivery status.</a:t>
            </a: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Hysteresis → </a:t>
            </a:r>
            <a:r>
              <a:rPr lang="en-IN" sz="1500" b="1" dirty="0">
                <a:latin typeface="Times New Roman" panose="02020603050405020304" pitchFamily="18" charset="0"/>
                <a:cs typeface="Times New Roman" panose="02020603050405020304" pitchFamily="18" charset="0"/>
              </a:rPr>
              <a:t>CRITICAL → WARNING → WATCH → SAFE</a:t>
            </a:r>
          </a:p>
          <a:p>
            <a:pPr lvl="0"/>
            <a:endParaRPr lang="en-IN" sz="1500" b="1" dirty="0">
              <a:latin typeface="Times New Roman" panose="02020603050405020304" pitchFamily="18" charset="0"/>
              <a:cs typeface="Times New Roman" panose="02020603050405020304" pitchFamily="18" charset="0"/>
            </a:endParaRPr>
          </a:p>
          <a:p>
            <a:pPr lvl="0"/>
            <a:r>
              <a:rPr lang="en-US" sz="1700" b="1" dirty="0">
                <a:solidFill>
                  <a:srgbClr val="1F487C"/>
                </a:solidFill>
                <a:latin typeface="Times New Roman"/>
                <a:cs typeface="Times New Roman"/>
              </a:rPr>
              <a:t> </a:t>
            </a:r>
            <a:r>
              <a:rPr sz="1700" b="1" dirty="0">
                <a:solidFill>
                  <a:srgbClr val="1F487C"/>
                </a:solidFill>
                <a:latin typeface="Times New Roman"/>
                <a:cs typeface="Times New Roman"/>
              </a:rPr>
              <a:t>Policy</a:t>
            </a:r>
            <a:r>
              <a:rPr sz="1700" b="1" spc="-10" dirty="0">
                <a:solidFill>
                  <a:srgbClr val="1F487C"/>
                </a:solidFill>
                <a:latin typeface="Times New Roman"/>
                <a:cs typeface="Times New Roman"/>
              </a:rPr>
              <a:t> </a:t>
            </a:r>
            <a:r>
              <a:rPr sz="1700" b="1" dirty="0">
                <a:solidFill>
                  <a:srgbClr val="1F487C"/>
                </a:solidFill>
                <a:latin typeface="Times New Roman"/>
                <a:cs typeface="Times New Roman"/>
              </a:rPr>
              <a:t>&amp;</a:t>
            </a:r>
            <a:r>
              <a:rPr sz="1700" b="1" spc="-10" dirty="0">
                <a:solidFill>
                  <a:srgbClr val="1F487C"/>
                </a:solidFill>
                <a:latin typeface="Times New Roman"/>
                <a:cs typeface="Times New Roman"/>
              </a:rPr>
              <a:t> </a:t>
            </a:r>
            <a:r>
              <a:rPr sz="1700" b="1" dirty="0">
                <a:solidFill>
                  <a:srgbClr val="1F487C"/>
                </a:solidFill>
                <a:latin typeface="Times New Roman"/>
                <a:cs typeface="Times New Roman"/>
              </a:rPr>
              <a:t>Ecosystem</a:t>
            </a:r>
            <a:r>
              <a:rPr sz="1700" b="1" spc="-145" dirty="0">
                <a:solidFill>
                  <a:srgbClr val="1F487C"/>
                </a:solidFill>
                <a:latin typeface="Times New Roman"/>
                <a:cs typeface="Times New Roman"/>
              </a:rPr>
              <a:t> </a:t>
            </a:r>
            <a:r>
              <a:rPr sz="1700" b="1" spc="-10" dirty="0">
                <a:solidFill>
                  <a:srgbClr val="1F487C"/>
                </a:solidFill>
                <a:latin typeface="Times New Roman"/>
                <a:cs typeface="Times New Roman"/>
              </a:rPr>
              <a:t>Analysis</a:t>
            </a:r>
            <a:endParaRPr lang="en-US" sz="1700" b="1" spc="-10" dirty="0">
              <a:solidFill>
                <a:srgbClr val="1F487C"/>
              </a:solidFill>
              <a:latin typeface="Times New Roman"/>
              <a:cs typeface="Times New Roman"/>
            </a:endParaRP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Designed to complement DGMS-compliant monitoring, certified mine maps and approved emergency procedures. </a:t>
            </a:r>
            <a:r>
              <a:rPr lang="en-IN" sz="1500" b="1" dirty="0">
                <a:latin typeface="Times New Roman" panose="02020603050405020304" pitchFamily="18" charset="0"/>
                <a:cs typeface="Times New Roman" panose="02020603050405020304" pitchFamily="18" charset="0"/>
                <a:hlinkClick r:id="rId6"/>
              </a:rPr>
              <a:t>Link</a:t>
            </a:r>
            <a:endParaRPr lang="en-IN" sz="15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Offline-first gateway preserves monitoring and worker alerts during internet loss.</a:t>
            </a:r>
          </a:p>
          <a:p>
            <a:pPr lvl="0"/>
            <a:endParaRPr sz="1700" dirty="0">
              <a:latin typeface="Times New Roman"/>
              <a:cs typeface="Times New Roman"/>
            </a:endParaRP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63500">
              <a:lnSpc>
                <a:spcPts val="1240"/>
              </a:lnSpc>
            </a:pPr>
            <a:fld id="{81D60167-4931-47E6-BA6A-407CBD079E47}" type="slidenum">
              <a:rPr spc="-50" dirty="0"/>
              <a:t>6</a:t>
            </a:fld>
            <a:endParaRPr spc="-50" dirty="0"/>
          </a:p>
        </p:txBody>
      </p:sp>
      <p:graphicFrame>
        <p:nvGraphicFramePr>
          <p:cNvPr id="15" name="Table 14">
            <a:extLst>
              <a:ext uri="{FF2B5EF4-FFF2-40B4-BE49-F238E27FC236}">
                <a16:creationId xmlns:a16="http://schemas.microsoft.com/office/drawing/2014/main" id="{E3ACC798-559E-BF69-E214-0B7CEE1D7A9E}"/>
              </a:ext>
            </a:extLst>
          </p:cNvPr>
          <p:cNvGraphicFramePr>
            <a:graphicFrameLocks noGrp="1"/>
          </p:cNvGraphicFramePr>
          <p:nvPr>
            <p:extLst>
              <p:ext uri="{D42A27DB-BD31-4B8C-83A1-F6EECF244321}">
                <p14:modId xmlns:p14="http://schemas.microsoft.com/office/powerpoint/2010/main" val="3380946297"/>
              </p:ext>
            </p:extLst>
          </p:nvPr>
        </p:nvGraphicFramePr>
        <p:xfrm>
          <a:off x="6321270" y="990600"/>
          <a:ext cx="5684991" cy="2311400"/>
        </p:xfrm>
        <a:graphic>
          <a:graphicData uri="http://schemas.openxmlformats.org/drawingml/2006/table">
            <a:tbl>
              <a:tblPr>
                <a:tableStyleId>{5C22544A-7EE6-4342-B048-85BDC9FD1C3A}</a:tableStyleId>
              </a:tblPr>
              <a:tblGrid>
                <a:gridCol w="2332191">
                  <a:extLst>
                    <a:ext uri="{9D8B030D-6E8A-4147-A177-3AD203B41FA5}">
                      <a16:colId xmlns:a16="http://schemas.microsoft.com/office/drawing/2014/main" val="3234380243"/>
                    </a:ext>
                  </a:extLst>
                </a:gridCol>
                <a:gridCol w="3352800">
                  <a:extLst>
                    <a:ext uri="{9D8B030D-6E8A-4147-A177-3AD203B41FA5}">
                      <a16:colId xmlns:a16="http://schemas.microsoft.com/office/drawing/2014/main" val="1493766561"/>
                    </a:ext>
                  </a:extLst>
                </a:gridCol>
              </a:tblGrid>
              <a:tr h="255882">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Conventional Monitoring</a:t>
                      </a:r>
                    </a:p>
                  </a:txBody>
                  <a:tcPr marL="50800" marR="50800" marT="50800" marB="50800" anchor="ctr"/>
                </a:tc>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KHANRAKSHAK</a:t>
                      </a:r>
                    </a:p>
                  </a:txBody>
                  <a:tcPr marL="50800" marR="50800" marT="50800" marB="50800" anchor="ctr"/>
                </a:tc>
                <a:extLst>
                  <a:ext uri="{0D108BD9-81ED-4DB2-BD59-A6C34878D82A}">
                    <a16:rowId xmlns:a16="http://schemas.microsoft.com/office/drawing/2014/main" val="509403654"/>
                  </a:ext>
                </a:extLst>
              </a:tr>
              <a:tr h="255882">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Manual / periodic readings</a:t>
                      </a:r>
                    </a:p>
                  </a:txBody>
                  <a:tcPr marL="50800" marR="50800" marT="50800" marB="50800" anchor="ctr"/>
                </a:tc>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Continuous wireless monitoring</a:t>
                      </a:r>
                    </a:p>
                  </a:txBody>
                  <a:tcPr marL="50800" marR="50800" marT="50800" marB="50800" anchor="ctr"/>
                </a:tc>
                <a:extLst>
                  <a:ext uri="{0D108BD9-81ED-4DB2-BD59-A6C34878D82A}">
                    <a16:rowId xmlns:a16="http://schemas.microsoft.com/office/drawing/2014/main" val="2565627464"/>
                  </a:ext>
                </a:extLst>
              </a:tr>
              <a:tr h="255882">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Single point / sensor view</a:t>
                      </a:r>
                    </a:p>
                  </a:txBody>
                  <a:tcPr marL="50800" marR="50800" marT="50800" marB="50800" anchor="ctr"/>
                </a:tc>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Multi-sensor deformation intelligence</a:t>
                      </a:r>
                    </a:p>
                  </a:txBody>
                  <a:tcPr marL="50800" marR="50800" marT="50800" marB="50800" anchor="ctr"/>
                </a:tc>
                <a:extLst>
                  <a:ext uri="{0D108BD9-81ED-4DB2-BD59-A6C34878D82A}">
                    <a16:rowId xmlns:a16="http://schemas.microsoft.com/office/drawing/2014/main" val="3681101085"/>
                  </a:ext>
                </a:extLst>
              </a:tr>
              <a:tr h="255882">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Fixed monitoring schedule</a:t>
                      </a:r>
                    </a:p>
                  </a:txBody>
                  <a:tcPr marL="50800" marR="50800" marT="50800" marB="50800" anchor="ctr"/>
                </a:tc>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Adaptive risk-based sampling</a:t>
                      </a:r>
                    </a:p>
                  </a:txBody>
                  <a:tcPr marL="50800" marR="50800" marT="50800" marB="50800" anchor="ctr"/>
                </a:tc>
                <a:extLst>
                  <a:ext uri="{0D108BD9-81ED-4DB2-BD59-A6C34878D82A}">
                    <a16:rowId xmlns:a16="http://schemas.microsoft.com/office/drawing/2014/main" val="530366458"/>
                  </a:ext>
                </a:extLst>
              </a:tr>
              <a:tr h="255882">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Point alarm</a:t>
                      </a:r>
                    </a:p>
                  </a:txBody>
                  <a:tcPr marL="50800" marR="50800" marT="50800" marB="50800" anchor="ctr"/>
                </a:tc>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GIS heatmap + 3D digital twin</a:t>
                      </a:r>
                    </a:p>
                  </a:txBody>
                  <a:tcPr marL="50800" marR="50800" marT="50800" marB="50800" anchor="ctr"/>
                </a:tc>
                <a:extLst>
                  <a:ext uri="{0D108BD9-81ED-4DB2-BD59-A6C34878D82A}">
                    <a16:rowId xmlns:a16="http://schemas.microsoft.com/office/drawing/2014/main" val="4152218807"/>
                  </a:ext>
                </a:extLst>
              </a:tr>
              <a:tr h="255882">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Control-room notification</a:t>
                      </a:r>
                    </a:p>
                  </a:txBody>
                  <a:tcPr marL="50800" marR="50800" marT="50800" marB="50800" anchor="ctr"/>
                </a:tc>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Physical LoRa worker buzzer + LED alert</a:t>
                      </a:r>
                    </a:p>
                  </a:txBody>
                  <a:tcPr marL="50800" marR="50800" marT="50800" marB="50800" anchor="ctr"/>
                </a:tc>
                <a:extLst>
                  <a:ext uri="{0D108BD9-81ED-4DB2-BD59-A6C34878D82A}">
                    <a16:rowId xmlns:a16="http://schemas.microsoft.com/office/drawing/2014/main" val="3605747"/>
                  </a:ext>
                </a:extLst>
              </a:tr>
              <a:tr h="255882">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Immediate reset</a:t>
                      </a:r>
                    </a:p>
                  </a:txBody>
                  <a:tcPr marL="50800" marR="50800" marT="50800" marB="50800" anchor="ctr"/>
                </a:tc>
                <a:tc>
                  <a:txBody>
                    <a:bodyPr/>
                    <a:lstStyle/>
                    <a:p>
                      <a:pPr algn="l">
                        <a:buNone/>
                      </a:pPr>
                      <a:r>
                        <a:rPr lang="en-IN" sz="1500" dirty="0">
                          <a:solidFill>
                            <a:schemeClr val="tx1"/>
                          </a:solidFill>
                          <a:effectLst/>
                          <a:latin typeface="Times New Roman" panose="02020603050405020304" pitchFamily="18" charset="0"/>
                          <a:cs typeface="Times New Roman" panose="02020603050405020304" pitchFamily="18" charset="0"/>
                        </a:rPr>
                        <a:t>Hysteresis-based controlled recovery</a:t>
                      </a:r>
                    </a:p>
                  </a:txBody>
                  <a:tcPr marL="50800" marR="50800" marT="50800" marB="50800" anchor="ctr"/>
                </a:tc>
                <a:extLst>
                  <a:ext uri="{0D108BD9-81ED-4DB2-BD59-A6C34878D82A}">
                    <a16:rowId xmlns:a16="http://schemas.microsoft.com/office/drawing/2014/main" val="2239769071"/>
                  </a:ext>
                </a:extLst>
              </a:tr>
            </a:tbl>
          </a:graphicData>
        </a:graphic>
      </p:graphicFrame>
      <p:cxnSp>
        <p:nvCxnSpPr>
          <p:cNvPr id="17" name="Straight Connector 16">
            <a:extLst>
              <a:ext uri="{FF2B5EF4-FFF2-40B4-BE49-F238E27FC236}">
                <a16:creationId xmlns:a16="http://schemas.microsoft.com/office/drawing/2014/main" id="{CB94A1D5-40D2-4B8A-521F-3A0ACE730B02}"/>
              </a:ext>
            </a:extLst>
          </p:cNvPr>
          <p:cNvCxnSpPr/>
          <p:nvPr/>
        </p:nvCxnSpPr>
        <p:spPr>
          <a:xfrm flipH="1">
            <a:off x="0" y="685800"/>
            <a:ext cx="12192000" cy="0"/>
          </a:xfrm>
          <a:prstGeom prst="line">
            <a:avLst/>
          </a:prstGeom>
          <a:ln w="19050"/>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97BD4F61-F676-6A5D-7C53-0F4FE7B7A518}"/>
              </a:ext>
            </a:extLst>
          </p:cNvPr>
          <p:cNvPicPr>
            <a:picLocks noChangeAspect="1"/>
          </p:cNvPicPr>
          <p:nvPr/>
        </p:nvPicPr>
        <p:blipFill>
          <a:blip r:embed="rId7"/>
          <a:stretch>
            <a:fillRect/>
          </a:stretch>
        </p:blipFill>
        <p:spPr>
          <a:xfrm>
            <a:off x="10631973" y="3087"/>
            <a:ext cx="1436793" cy="6616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361</TotalTime>
  <Words>1399</Words>
  <Application>Microsoft Office PowerPoint</Application>
  <PresentationFormat>Widescreen</PresentationFormat>
  <Paragraphs>150</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MT</vt:lpstr>
      <vt:lpstr>Calibri</vt:lpstr>
      <vt:lpstr>Times New Roman</vt:lpstr>
      <vt:lpstr>Office Theme</vt:lpstr>
      <vt:lpstr>SMART INDIA HACKATHON 2026</vt:lpstr>
      <vt:lpstr>PowerPoint Presentation</vt:lpstr>
      <vt:lpstr>TECHNICAL APPROACH</vt:lpstr>
      <vt:lpstr>FEASIBILITY AND VIABILITY</vt:lpstr>
      <vt:lpstr>IMPACT AND BENEFITS</vt:lpstr>
      <vt:lpstr>Research and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creator>Crowdfunder</dc:creator>
  <cp:lastModifiedBy>Muluka Srikaran</cp:lastModifiedBy>
  <cp:revision>4</cp:revision>
  <dcterms:created xsi:type="dcterms:W3CDTF">2026-09-25T18:44:35Z</dcterms:created>
  <dcterms:modified xsi:type="dcterms:W3CDTF">2026-09-29T04:43:29Z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2025-10-15T00:00:00Z</vt:filetime>
  </property>
  <property fmtid="{D5CDD505-2E9C-101B-9397-08002B2CF9AE}" pid="4" name="Creator">
    <vt:lpwstr>Microsoft® PowerPoint® 2021</vt:lpwstr>
  </property>
  <property fmtid="{D5CDD505-2E9C-101B-9397-08002B2CF9AE}" pid="5" name="LastSaved">
    <vt:filetime>2026-09-25T00:00:00Z</vt:filetime>
  </property>
  <property fmtid="{D5CDD505-2E9C-101B-9397-08002B2CF9AE}" pid="6" name="Producer">
    <vt:lpwstr>Microsoft® PowerPoint® 2021</vt:lpwstr>
  </property>
</Properties>
</file>